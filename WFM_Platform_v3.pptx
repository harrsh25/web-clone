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4"/>
    <p:sldId id="257" r:id="rId3"/>
    <p:sldId id="258" r:id="rId2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8ACB"/>
    <a:srgbClr val="EF8B1D"/>
    <a:srgbClr val="000000"/>
    <a:srgbClr val="203864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741" autoAdjust="0"/>
  </p:normalViewPr>
  <p:slideViewPr>
    <p:cSldViewPr snapToGrid="0">
      <p:cViewPr>
        <p:scale>
          <a:sx n="66" d="100"/>
          <a:sy n="66" d="100"/>
        </p:scale>
        <p:origin x="1253" y="2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9546C-4D24-422E-A01B-7F6E772296A0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2F279F-93F8-42A4-803E-9143DB125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500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4B033E-735C-8588-FCDE-C536FEA861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09655"/>
            <a:ext cx="4641405" cy="3297555"/>
          </a:xfrm>
          <a:prstGeom prst="rect">
            <a:avLst/>
          </a:prstGeom>
        </p:spPr>
      </p:pic>
      <p:pic>
        <p:nvPicPr>
          <p:cNvPr id="5" name="Graphic 26">
            <a:extLst>
              <a:ext uri="{FF2B5EF4-FFF2-40B4-BE49-F238E27FC236}">
                <a16:creationId xmlns:a16="http://schemas.microsoft.com/office/drawing/2014/main" id="{4C7FC5CB-4550-4E7C-7ED9-45DCFC54EF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15" b="8702"/>
          <a:stretch/>
        </p:blipFill>
        <p:spPr>
          <a:xfrm>
            <a:off x="0" y="3560442"/>
            <a:ext cx="12192000" cy="329755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1A6EDA1-A4EB-40AD-4688-115062150A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4434" y="2"/>
            <a:ext cx="2357566" cy="229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0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0"/>
    </mc:Choice>
    <mc:Fallback xmlns="">
      <p:transition spd="slow" advClick="0" advTm="10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2054F27-CE62-832A-D648-094184D66E3C}"/>
              </a:ext>
            </a:extLst>
          </p:cNvPr>
          <p:cNvGrpSpPr/>
          <p:nvPr userDrawn="1"/>
        </p:nvGrpSpPr>
        <p:grpSpPr>
          <a:xfrm flipV="1">
            <a:off x="0" y="6025896"/>
            <a:ext cx="12192000" cy="832104"/>
            <a:chOff x="0" y="-2"/>
            <a:chExt cx="12192000" cy="83164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A3BE10F-2227-42E2-114B-8E339EE3CD16}"/>
                </a:ext>
              </a:extLst>
            </p:cNvPr>
            <p:cNvSpPr/>
            <p:nvPr userDrawn="1"/>
          </p:nvSpPr>
          <p:spPr>
            <a:xfrm flipV="1">
              <a:off x="0" y="-2"/>
              <a:ext cx="12192000" cy="831649"/>
            </a:xfrm>
            <a:custGeom>
              <a:avLst/>
              <a:gdLst>
                <a:gd name="connsiteX0" fmla="*/ 0 w 12192000"/>
                <a:gd name="connsiteY0" fmla="*/ 970962 h 970962"/>
                <a:gd name="connsiteX1" fmla="*/ 12192000 w 12192000"/>
                <a:gd name="connsiteY1" fmla="*/ 970962 h 970962"/>
                <a:gd name="connsiteX2" fmla="*/ 12192000 w 12192000"/>
                <a:gd name="connsiteY2" fmla="*/ 707011 h 970962"/>
                <a:gd name="connsiteX3" fmla="*/ 2983584 w 12192000"/>
                <a:gd name="connsiteY3" fmla="*/ 707011 h 970962"/>
                <a:gd name="connsiteX4" fmla="*/ 2573517 w 12192000"/>
                <a:gd name="connsiteY4" fmla="*/ 0 h 970962"/>
                <a:gd name="connsiteX5" fmla="*/ 1 w 12192000"/>
                <a:gd name="connsiteY5" fmla="*/ 0 h 970962"/>
                <a:gd name="connsiteX6" fmla="*/ 1 w 12192000"/>
                <a:gd name="connsiteY6" fmla="*/ 707011 h 970962"/>
                <a:gd name="connsiteX7" fmla="*/ 0 w 12192000"/>
                <a:gd name="connsiteY7" fmla="*/ 707011 h 97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970962">
                  <a:moveTo>
                    <a:pt x="0" y="970962"/>
                  </a:moveTo>
                  <a:lnTo>
                    <a:pt x="12192000" y="970962"/>
                  </a:lnTo>
                  <a:lnTo>
                    <a:pt x="12192000" y="707011"/>
                  </a:lnTo>
                  <a:lnTo>
                    <a:pt x="2983584" y="707011"/>
                  </a:lnTo>
                  <a:lnTo>
                    <a:pt x="2573517" y="0"/>
                  </a:lnTo>
                  <a:lnTo>
                    <a:pt x="1" y="0"/>
                  </a:lnTo>
                  <a:lnTo>
                    <a:pt x="1" y="707011"/>
                  </a:lnTo>
                  <a:lnTo>
                    <a:pt x="0" y="70701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1EA79C"/>
                </a:gs>
                <a:gs pos="64000">
                  <a:srgbClr val="008AC9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9157119-1A64-0113-C0D8-89605FF77782}"/>
                </a:ext>
              </a:extLst>
            </p:cNvPr>
            <p:cNvGrpSpPr/>
            <p:nvPr userDrawn="1"/>
          </p:nvGrpSpPr>
          <p:grpSpPr>
            <a:xfrm>
              <a:off x="1047" y="355200"/>
              <a:ext cx="12190953" cy="405542"/>
              <a:chOff x="2810235" y="4558270"/>
              <a:chExt cx="12190953" cy="569911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31E22DE0-243A-3758-772C-D07D5AB514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10235" y="4558270"/>
                <a:ext cx="356128" cy="569911"/>
              </a:xfrm>
              <a:prstGeom prst="line">
                <a:avLst/>
              </a:prstGeom>
              <a:ln>
                <a:gradFill flip="none" rotWithShape="1">
                  <a:gsLst>
                    <a:gs pos="100000">
                      <a:srgbClr val="008AC9"/>
                    </a:gs>
                    <a:gs pos="0">
                      <a:srgbClr val="1EA79C"/>
                    </a:gs>
                  </a:gsLst>
                  <a:lin ang="19200000" scaled="0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9F8ED62-99BC-2A87-809E-D1E9F14B21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5316" y="5128181"/>
                <a:ext cx="11835872" cy="0"/>
              </a:xfrm>
              <a:prstGeom prst="line">
                <a:avLst/>
              </a:prstGeom>
              <a:ln>
                <a:gradFill flip="none" rotWithShape="1">
                  <a:gsLst>
                    <a:gs pos="100000">
                      <a:srgbClr val="008AC9"/>
                    </a:gs>
                    <a:gs pos="0">
                      <a:srgbClr val="1EA79C"/>
                    </a:gs>
                  </a:gsLst>
                  <a:lin ang="19200000" scaled="0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8353514-9094-34EA-650C-1F92387B88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1" t="45683" r="7351" b="-1311"/>
          <a:stretch/>
        </p:blipFill>
        <p:spPr>
          <a:xfrm>
            <a:off x="0" y="0"/>
            <a:ext cx="12192000" cy="16002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E19A3EC-A2AE-F88D-434C-EE875D54B3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688" y="6211386"/>
            <a:ext cx="1623651" cy="4541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EDD558D-66B3-036F-D988-B07003D818F9}"/>
              </a:ext>
            </a:extLst>
          </p:cNvPr>
          <p:cNvSpPr txBox="1"/>
          <p:nvPr userDrawn="1"/>
        </p:nvSpPr>
        <p:spPr>
          <a:xfrm>
            <a:off x="7052392" y="6220516"/>
            <a:ext cx="4931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spc="300" dirty="0"/>
              <a:t>WWW.</a:t>
            </a:r>
            <a:r>
              <a:rPr lang="fr-FR" sz="1400" b="1" spc="300" dirty="0">
                <a:solidFill>
                  <a:srgbClr val="1E8ACB"/>
                </a:solidFill>
              </a:rPr>
              <a:t>INVENTIA</a:t>
            </a:r>
            <a:r>
              <a:rPr lang="fr-FR" sz="1400" b="1" spc="300" dirty="0"/>
              <a:t>.IN  |  INFO@</a:t>
            </a:r>
            <a:r>
              <a:rPr lang="fr-FR" sz="1400" b="1" spc="300" dirty="0">
                <a:solidFill>
                  <a:srgbClr val="1E8ACB"/>
                </a:solidFill>
              </a:rPr>
              <a:t>INVENTIA</a:t>
            </a:r>
            <a:r>
              <a:rPr lang="fr-FR" sz="1400" b="1" spc="300" dirty="0"/>
              <a:t>.IN</a:t>
            </a:r>
            <a:endParaRPr lang="en-IN" sz="1400" b="1" spc="300" dirty="0"/>
          </a:p>
        </p:txBody>
      </p:sp>
    </p:spTree>
    <p:extLst>
      <p:ext uri="{BB962C8B-B14F-4D97-AF65-F5344CB8AC3E}">
        <p14:creationId xmlns:p14="http://schemas.microsoft.com/office/powerpoint/2010/main" val="150689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 descr="Phone Backgrounds — Simplistic white backgrounds ◽️◻️⬜️">
            <a:extLst>
              <a:ext uri="{FF2B5EF4-FFF2-40B4-BE49-F238E27FC236}">
                <a16:creationId xmlns:a16="http://schemas.microsoft.com/office/drawing/2014/main" id="{33E553F8-3020-9126-AB0B-3F98EEAAFF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71232" y="-2671237"/>
            <a:ext cx="6849535" cy="1219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1E0808-F3B8-A171-1215-DAA5A4C72076}"/>
              </a:ext>
            </a:extLst>
          </p:cNvPr>
          <p:cNvSpPr/>
          <p:nvPr userDrawn="1"/>
        </p:nvSpPr>
        <p:spPr>
          <a:xfrm>
            <a:off x="0" y="-1"/>
            <a:ext cx="12192000" cy="71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BEC342-96AD-0852-2A34-99F0CB3258E0}"/>
              </a:ext>
            </a:extLst>
          </p:cNvPr>
          <p:cNvSpPr/>
          <p:nvPr userDrawn="1"/>
        </p:nvSpPr>
        <p:spPr>
          <a:xfrm>
            <a:off x="0" y="6786281"/>
            <a:ext cx="12192000" cy="71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4161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7DB5F8-FEF4-EDF4-5C50-C4C8F74B6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A1FB8-C4D3-870C-0791-5EF9B8339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71C9D-8D41-FBA5-EBB1-9EE453992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70F1D-28F1-40EC-A00C-613D14E842B0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BF65F-C0DC-AE27-7A27-5DF7C4A8C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FABFF-1946-2227-E22C-001A26D79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76785-C26B-4EDD-8C99-F401653FB9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325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756" y="2000000"/>
            <a:ext cx="1067448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E8ACB"/>
                </a:solidFill>
                <a:latin typeface="Calibri"/>
              </a:rPr>
              <a:t>Workforce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756" y="2560000"/>
            <a:ext cx="10674488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3A5C"/>
                </a:solidFill>
                <a:latin typeface="Calibri"/>
              </a:rPr>
              <a:t>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756" y="3150000"/>
            <a:ext cx="10674488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E6E7C"/>
                </a:solidFill>
                <a:latin typeface="Calibri"/>
              </a:rPr>
              <a:t>Plan Smarter. Execute Faster. Deliver More.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756" y="3560000"/>
            <a:ext cx="5000000" cy="127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756" y="365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E6E7C"/>
                </a:solidFill>
                <a:latin typeface="Calibri"/>
              </a:rPr>
              <a:t>Inventia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90000"/>
            <a:ext cx="11094720" cy="1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40000"/>
            <a:ext cx="110947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ACB"/>
                </a:solidFill>
                <a:latin typeface="Calibri"/>
              </a:rP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00000"/>
            <a:ext cx="11094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A5C"/>
                </a:solidFill>
                <a:latin typeface="Calibri"/>
              </a:rPr>
              <a:t>One Platform. Every Team. Every Project.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6000" y="2250000"/>
            <a:ext cx="3200000" cy="1500000"/>
          </a:xfrm>
          <a:prstGeom prst="rect">
            <a:avLst/>
          </a:prstGeom>
          <a:solidFill>
            <a:srgbClr val="F4F8FD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6000" y="2250000"/>
            <a:ext cx="3200000" cy="6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6000" y="2400000"/>
            <a:ext cx="3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E8ACB"/>
                </a:solidFill>
                <a:latin typeface="Calibri"/>
              </a:rPr>
              <a:t>3×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6000" y="293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2A38"/>
                </a:solidFill>
                <a:latin typeface="Calibri"/>
              </a:rPr>
              <a:t>Faster
Project Planning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6000" y="2250000"/>
            <a:ext cx="3200000" cy="1500000"/>
          </a:xfrm>
          <a:prstGeom prst="rect">
            <a:avLst/>
          </a:prstGeom>
          <a:solidFill>
            <a:srgbClr val="F4F8FD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6000" y="2250000"/>
            <a:ext cx="3200000" cy="6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6000" y="2400000"/>
            <a:ext cx="3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E8ACB"/>
                </a:solidFill>
                <a:latin typeface="Calibr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6000" y="293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2A38"/>
                </a:solidFill>
                <a:latin typeface="Calibri"/>
              </a:rPr>
              <a:t>Reduction in
Admin Overhead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66000" y="2250000"/>
            <a:ext cx="3200000" cy="1500000"/>
          </a:xfrm>
          <a:prstGeom prst="rect">
            <a:avLst/>
          </a:prstGeom>
          <a:solidFill>
            <a:srgbClr val="F4F8FD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6000" y="2250000"/>
            <a:ext cx="3200000" cy="6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66000" y="2400000"/>
            <a:ext cx="3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E8ACB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6000" y="293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2A38"/>
                </a:solidFill>
                <a:latin typeface="Calibri"/>
              </a:rPr>
              <a:t>Real-Time
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50000"/>
            <a:ext cx="1109472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7C"/>
                </a:solidFill>
                <a:latin typeface="Calibri"/>
              </a:rPr>
              <a:t>The Workforce Management Platform is a unified solution for planning, executing, and tracking projects across industries. From individual task management to portfolio-level dashboards, it gives every team member and every manager exactly the visibility they need.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90000"/>
            <a:ext cx="11094720" cy="1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40000"/>
            <a:ext cx="110947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ACB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00000"/>
            <a:ext cx="11094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A5C"/>
                </a:solidFill>
                <a:latin typeface="Calibri"/>
              </a:rPr>
              <a:t>Why Teams Struggle Without the Right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30000"/>
            <a:ext cx="380000" cy="380000"/>
          </a:xfrm>
          <a:prstGeom prst="rect">
            <a:avLst/>
          </a:prstGeom>
          <a:solidFill>
            <a:srgbClr val="D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0000"/>
            <a:ext cx="38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8AC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640" y="2270000"/>
            <a:ext cx="106347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Calibri"/>
              </a:rPr>
              <a:t>Disconnected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640" y="2540000"/>
            <a:ext cx="106347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E6E7C"/>
                </a:solidFill>
                <a:latin typeface="Calibri"/>
              </a:rPr>
              <a:t>Projects live in spreadsheets, emails, and chat threads — no single source of truth.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8640" y="3070000"/>
            <a:ext cx="10634720" cy="9000"/>
          </a:xfrm>
          <a:prstGeom prst="rect">
            <a:avLst/>
          </a:prstGeom>
          <a:solidFill>
            <a:srgbClr val="B8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200000"/>
            <a:ext cx="380000" cy="380000"/>
          </a:xfrm>
          <a:prstGeom prst="rect">
            <a:avLst/>
          </a:prstGeom>
          <a:solidFill>
            <a:srgbClr val="D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000"/>
            <a:ext cx="38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8ACB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640" y="3140000"/>
            <a:ext cx="106347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Calibri"/>
              </a:rPr>
              <a:t>No Real-Time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640" y="3410000"/>
            <a:ext cx="106347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E6E7C"/>
                </a:solidFill>
                <a:latin typeface="Calibri"/>
              </a:rPr>
              <a:t>Managers find out about delays after they happen, not before.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8640" y="3940000"/>
            <a:ext cx="10634720" cy="9000"/>
          </a:xfrm>
          <a:prstGeom prst="rect">
            <a:avLst/>
          </a:prstGeom>
          <a:solidFill>
            <a:srgbClr val="B8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70000"/>
            <a:ext cx="380000" cy="380000"/>
          </a:xfrm>
          <a:prstGeom prst="rect">
            <a:avLst/>
          </a:prstGeom>
          <a:solidFill>
            <a:srgbClr val="D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70000"/>
            <a:ext cx="38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8ACB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8640" y="4010000"/>
            <a:ext cx="106347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Calibri"/>
              </a:rPr>
              <a:t>Manual Approval Bottlenecks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640" y="4280000"/>
            <a:ext cx="106347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E6E7C"/>
                </a:solidFill>
                <a:latin typeface="Calibri"/>
              </a:rPr>
              <a:t>Approval cycles are slow, informal, and leave no audit trail.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8640" y="4810000"/>
            <a:ext cx="10634720" cy="9000"/>
          </a:xfrm>
          <a:prstGeom prst="rect">
            <a:avLst/>
          </a:prstGeom>
          <a:solidFill>
            <a:srgbClr val="B8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40000"/>
            <a:ext cx="380000" cy="380000"/>
          </a:xfrm>
          <a:prstGeom prst="rect">
            <a:avLst/>
          </a:prstGeom>
          <a:solidFill>
            <a:srgbClr val="D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940000"/>
            <a:ext cx="38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8ACB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640" y="4880000"/>
            <a:ext cx="106347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Calibri"/>
              </a:rPr>
              <a:t>Resource Guesswork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640" y="5150000"/>
            <a:ext cx="106347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E6E7C"/>
                </a:solidFill>
                <a:latin typeface="Calibri"/>
              </a:rPr>
              <a:t>Allocating people to tasks is done by gut feel — not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90000"/>
            <a:ext cx="11094720" cy="1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40000"/>
            <a:ext cx="110947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ACB"/>
                </a:solidFill>
                <a:latin typeface="Calibri"/>
              </a:rPr>
              <a:t>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00000"/>
            <a:ext cx="11094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A5C"/>
                </a:solidFill>
                <a:latin typeface="Calibri"/>
              </a:rPr>
              <a:t>Built for Teams Across Every Industry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50000"/>
            <a:ext cx="50000" cy="28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640" y="2330000"/>
            <a:ext cx="53473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IT &amp;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640" y="2550000"/>
            <a:ext cx="53473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E6E7C"/>
                </a:solidFill>
                <a:latin typeface="Calibri"/>
              </a:rPr>
              <a:t>Agile sprints, release planning, dev team tracking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00000"/>
            <a:ext cx="5467360" cy="9000"/>
          </a:xfrm>
          <a:prstGeom prst="rect">
            <a:avLst/>
          </a:prstGeom>
          <a:solidFill>
            <a:srgbClr val="B8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6000" y="2350000"/>
            <a:ext cx="50000" cy="28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6000" y="2330000"/>
            <a:ext cx="53473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Construction &amp; EPC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000" y="2550000"/>
            <a:ext cx="53473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E6E7C"/>
                </a:solidFill>
                <a:latin typeface="Calibri"/>
              </a:rPr>
              <a:t>Site management, subcontractor coordination, milestones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000" y="2900000"/>
            <a:ext cx="5467360" cy="9000"/>
          </a:xfrm>
          <a:prstGeom prst="rect">
            <a:avLst/>
          </a:prstGeom>
          <a:solidFill>
            <a:srgbClr val="B8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990000"/>
            <a:ext cx="50000" cy="28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640" y="2970000"/>
            <a:ext cx="53473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Manufacturing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640" y="3190000"/>
            <a:ext cx="53473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E6E7C"/>
                </a:solidFill>
                <a:latin typeface="Calibri"/>
              </a:rPr>
              <a:t>Production planning, shift scheduling, quality gates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40000"/>
            <a:ext cx="5467360" cy="9000"/>
          </a:xfrm>
          <a:prstGeom prst="rect">
            <a:avLst/>
          </a:prstGeom>
          <a:solidFill>
            <a:srgbClr val="B8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6000" y="2990000"/>
            <a:ext cx="50000" cy="28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6000" y="2970000"/>
            <a:ext cx="53473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Professional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000" y="3190000"/>
            <a:ext cx="53473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E6E7C"/>
                </a:solidFill>
                <a:latin typeface="Calibri"/>
              </a:rPr>
              <a:t>Client projects, billable hours, deliverable tracking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6000" y="3540000"/>
            <a:ext cx="5467360" cy="9000"/>
          </a:xfrm>
          <a:prstGeom prst="rect">
            <a:avLst/>
          </a:prstGeom>
          <a:solidFill>
            <a:srgbClr val="B8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630000"/>
            <a:ext cx="50000" cy="28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640" y="3610000"/>
            <a:ext cx="53473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Healthcare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640" y="3830000"/>
            <a:ext cx="53473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E6E7C"/>
                </a:solidFill>
                <a:latin typeface="Calibri"/>
              </a:rPr>
              <a:t>Compliance workflows, staff scheduling, project delivery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6000" y="3630000"/>
            <a:ext cx="50000" cy="28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6000" y="3610000"/>
            <a:ext cx="53473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Financial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000" y="3830000"/>
            <a:ext cx="53473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E6E7C"/>
                </a:solidFill>
                <a:latin typeface="Calibri"/>
              </a:rPr>
              <a:t>Regulatory projects, audit trails, cross-team coordination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90000"/>
            <a:ext cx="11094720" cy="1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40000"/>
            <a:ext cx="110947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ACB"/>
                </a:solidFill>
                <a:latin typeface="Calibri"/>
              </a:rPr>
              <a:t>PROJECT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00000"/>
            <a:ext cx="11094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A5C"/>
                </a:solidFill>
                <a:latin typeface="Calibri"/>
              </a:rPr>
              <a:t>Structured Project Planning from Day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00000"/>
            <a:ext cx="36000" cy="20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8640" y="2310000"/>
            <a:ext cx="6110000" cy="81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Hierarchical work breakdown structure (WBS) with unlimited nesting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52500"/>
            <a:ext cx="36000" cy="20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640" y="3162500"/>
            <a:ext cx="6110000" cy="81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Baseline vs. actual tracking with automatic variance flagging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05000"/>
            <a:ext cx="36000" cy="20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640" y="4015000"/>
            <a:ext cx="6110000" cy="81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Milestone and dependency management across teams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57500"/>
            <a:ext cx="36000" cy="20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640" y="4867500"/>
            <a:ext cx="6110000" cy="81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Real-time schedule updates visible to all stakeholders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28640" y="2210000"/>
            <a:ext cx="4614720" cy="3570000"/>
          </a:xfrm>
          <a:prstGeom prst="rect">
            <a:avLst/>
          </a:prstGeom>
          <a:solidFill>
            <a:srgbClr val="F4F8FD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28640" y="2210000"/>
            <a:ext cx="4614720" cy="60000"/>
          </a:xfrm>
          <a:prstGeom prst="rect">
            <a:avLst/>
          </a:prstGeom>
          <a:solidFill>
            <a:srgbClr val="12A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8640" y="2330000"/>
            <a:ext cx="44547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A8BC"/>
                </a:solidFill>
                <a:latin typeface="Calibri"/>
              </a:rPr>
              <a:t>OUTCOME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08640" y="2540000"/>
            <a:ext cx="4454720" cy="9000"/>
          </a:xfrm>
          <a:prstGeom prst="rect">
            <a:avLst/>
          </a:prstGeom>
          <a:solidFill>
            <a:srgbClr val="B8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8640" y="2610000"/>
            <a:ext cx="4454720" cy="30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Teams complete projects 30% faster with clear ownership and structured planning built in from day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90000"/>
            <a:ext cx="11094720" cy="1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40000"/>
            <a:ext cx="110947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ACB"/>
                </a:solidFill>
                <a:latin typeface="Calibri"/>
              </a:rPr>
              <a:t>PERSONAL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00000"/>
            <a:ext cx="11094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A5C"/>
                </a:solidFill>
                <a:latin typeface="Calibri"/>
              </a:rPr>
              <a:t>Every Team Member Knows Exactly What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00000"/>
            <a:ext cx="36000" cy="20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8640" y="2310000"/>
            <a:ext cx="6110000" cy="81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Personal task dashboard with prioritised daily work 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52500"/>
            <a:ext cx="36000" cy="20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640" y="3162500"/>
            <a:ext cx="6110000" cy="81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Weekly planning view with capacity awareness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05000"/>
            <a:ext cx="36000" cy="20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640" y="4015000"/>
            <a:ext cx="6110000" cy="81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Progress tracking at the individual contributor 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57500"/>
            <a:ext cx="36000" cy="20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640" y="4867500"/>
            <a:ext cx="6110000" cy="81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Seamless visibility for managers — no chasing for updates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28640" y="2210000"/>
            <a:ext cx="4614720" cy="3570000"/>
          </a:xfrm>
          <a:prstGeom prst="rect">
            <a:avLst/>
          </a:prstGeom>
          <a:solidFill>
            <a:srgbClr val="F4F8FD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28640" y="2210000"/>
            <a:ext cx="4614720" cy="60000"/>
          </a:xfrm>
          <a:prstGeom prst="rect">
            <a:avLst/>
          </a:prstGeom>
          <a:solidFill>
            <a:srgbClr val="12A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8640" y="2330000"/>
            <a:ext cx="44547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A8BC"/>
                </a:solidFill>
                <a:latin typeface="Calibri"/>
              </a:rPr>
              <a:t>OUTCOME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08640" y="2540000"/>
            <a:ext cx="4454720" cy="9000"/>
          </a:xfrm>
          <a:prstGeom prst="rect">
            <a:avLst/>
          </a:prstGeom>
          <a:solidFill>
            <a:srgbClr val="B8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8640" y="2610000"/>
            <a:ext cx="4454720" cy="30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Individual contributors spend less time in meetings and more time executing — with full clarity on priorities.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90000"/>
            <a:ext cx="11094720" cy="1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40000"/>
            <a:ext cx="110947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ACB"/>
                </a:solidFill>
                <a:latin typeface="Calibri"/>
              </a:rPr>
              <a:t>MANAGEMENT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00000"/>
            <a:ext cx="11094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A5C"/>
                </a:solidFill>
                <a:latin typeface="Calibri"/>
              </a:rPr>
              <a:t>Real-Time View Across All Projects and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00000"/>
            <a:ext cx="36000" cy="20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8640" y="2310000"/>
            <a:ext cx="6110000" cy="81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Portfolio-level project health status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52500"/>
            <a:ext cx="36000" cy="20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640" y="3162500"/>
            <a:ext cx="6110000" cy="81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Resource utilisation heatmaps across all active projects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05000"/>
            <a:ext cx="36000" cy="20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640" y="4015000"/>
            <a:ext cx="6110000" cy="81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Budget vs. actual tracking with drill-down to task 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57500"/>
            <a:ext cx="36000" cy="20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640" y="4867500"/>
            <a:ext cx="6110000" cy="81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Configurable KPI widgets for any reporting need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28640" y="2210000"/>
            <a:ext cx="4614720" cy="3570000"/>
          </a:xfrm>
          <a:prstGeom prst="rect">
            <a:avLst/>
          </a:prstGeom>
          <a:solidFill>
            <a:srgbClr val="F4F8FD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28640" y="2210000"/>
            <a:ext cx="4614720" cy="60000"/>
          </a:xfrm>
          <a:prstGeom prst="rect">
            <a:avLst/>
          </a:prstGeom>
          <a:solidFill>
            <a:srgbClr val="12A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8640" y="2330000"/>
            <a:ext cx="44547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A8BC"/>
                </a:solidFill>
                <a:latin typeface="Calibri"/>
              </a:rPr>
              <a:t>OUTCOME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08640" y="2540000"/>
            <a:ext cx="4454720" cy="9000"/>
          </a:xfrm>
          <a:prstGeom prst="rect">
            <a:avLst/>
          </a:prstGeom>
          <a:solidFill>
            <a:srgbClr val="B8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8640" y="2610000"/>
            <a:ext cx="4454720" cy="30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Managers make faster, better decisions with live data — not weekend status reports.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90000"/>
            <a:ext cx="11094720" cy="1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40000"/>
            <a:ext cx="110947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ACB"/>
                </a:solidFill>
                <a:latin typeface="Calibri"/>
              </a:rPr>
              <a:t>AI &amp;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00000"/>
            <a:ext cx="11094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A5C"/>
                </a:solidFill>
                <a:latin typeface="Calibri"/>
              </a:rPr>
              <a:t>Smart Features Powered by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70000"/>
            <a:ext cx="600000" cy="540000"/>
          </a:xfrm>
          <a:prstGeom prst="rect">
            <a:avLst/>
          </a:prstGeom>
          <a:solidFill>
            <a:srgbClr val="D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70000"/>
            <a:ext cx="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8ACB"/>
                </a:solidFill>
                <a:latin typeface="Calibri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8640" y="2270000"/>
            <a:ext cx="103747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Smart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8640" y="2540000"/>
            <a:ext cx="103747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E6E7C"/>
                </a:solidFill>
                <a:latin typeface="Calibri"/>
              </a:rPr>
              <a:t>AI-suggested timelines based on team capacity and historical performance. No more guessing — the platform proposes realistic schedules automatically.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0000"/>
            <a:ext cx="11094720" cy="9000"/>
          </a:xfrm>
          <a:prstGeom prst="rect">
            <a:avLst/>
          </a:prstGeom>
          <a:solidFill>
            <a:srgbClr val="B8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330000"/>
            <a:ext cx="600000" cy="540000"/>
          </a:xfrm>
          <a:prstGeom prst="rect">
            <a:avLst/>
          </a:prstGeom>
          <a:solidFill>
            <a:srgbClr val="D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30000"/>
            <a:ext cx="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8ACB"/>
                </a:solidFill>
                <a:latin typeface="Calibri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8640" y="3330000"/>
            <a:ext cx="103747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Risk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8640" y="3600000"/>
            <a:ext cx="103747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E6E7C"/>
                </a:solidFill>
                <a:latin typeface="Calibri"/>
              </a:rPr>
              <a:t>Automatically flags at-risk tasks and milestones before they cause delays. Early warnings give teams time to course-correct before it's too late.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00000"/>
            <a:ext cx="11094720" cy="9000"/>
          </a:xfrm>
          <a:prstGeom prst="rect">
            <a:avLst/>
          </a:prstGeom>
          <a:solidFill>
            <a:srgbClr val="B8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90000"/>
            <a:ext cx="600000" cy="540000"/>
          </a:xfrm>
          <a:prstGeom prst="rect">
            <a:avLst/>
          </a:prstGeom>
          <a:solidFill>
            <a:srgbClr val="D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390000"/>
            <a:ext cx="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8ACB"/>
                </a:solidFill>
                <a:latin typeface="Calibri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8640" y="4390000"/>
            <a:ext cx="103747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Workload Balancing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8640" y="4660000"/>
            <a:ext cx="103747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E6E7C"/>
                </a:solidFill>
                <a:latin typeface="Calibri"/>
              </a:rPr>
              <a:t>Identifies over-allocated and under-utilized team members and recommends reallocation to keep every project moving at the right 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90000"/>
            <a:ext cx="11094720" cy="1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40000"/>
            <a:ext cx="110947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ACB"/>
                </a:solidFill>
                <a:latin typeface="Calibri"/>
              </a:rPr>
              <a:t>APPROVALS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00000"/>
            <a:ext cx="11094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A5C"/>
                </a:solidFill>
                <a:latin typeface="Calibri"/>
              </a:rPr>
              <a:t>Compliant, Auditable Approval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00000"/>
            <a:ext cx="36000" cy="20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8640" y="2310000"/>
            <a:ext cx="6110000" cy="81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Multi-level approval chains tailored to your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52500"/>
            <a:ext cx="36000" cy="20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640" y="3162500"/>
            <a:ext cx="6110000" cy="81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Auto-escalation when SLA thresholds are breached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05000"/>
            <a:ext cx="36000" cy="20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640" y="4015000"/>
            <a:ext cx="6110000" cy="81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Full audit trail for every approval action and decision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57500"/>
            <a:ext cx="36000" cy="20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640" y="4867500"/>
            <a:ext cx="6110000" cy="81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Role-based access control with granular permissions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28640" y="2210000"/>
            <a:ext cx="4614720" cy="3570000"/>
          </a:xfrm>
          <a:prstGeom prst="rect">
            <a:avLst/>
          </a:prstGeom>
          <a:solidFill>
            <a:srgbClr val="F4F8FD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28640" y="2210000"/>
            <a:ext cx="4614720" cy="60000"/>
          </a:xfrm>
          <a:prstGeom prst="rect">
            <a:avLst/>
          </a:prstGeom>
          <a:solidFill>
            <a:srgbClr val="12A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8640" y="2330000"/>
            <a:ext cx="44547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A8BC"/>
                </a:solidFill>
                <a:latin typeface="Calibri"/>
              </a:rPr>
              <a:t>OUTCOME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08640" y="2540000"/>
            <a:ext cx="4454720" cy="9000"/>
          </a:xfrm>
          <a:prstGeom prst="rect">
            <a:avLst/>
          </a:prstGeom>
          <a:solidFill>
            <a:srgbClr val="B8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8640" y="2610000"/>
            <a:ext cx="4454720" cy="30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A38"/>
                </a:solidFill>
                <a:latin typeface="Calibri"/>
              </a:rPr>
              <a:t>Governance without the bottleneck — structured approvals that move at the speed of business.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90000"/>
            <a:ext cx="11094720" cy="1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40000"/>
            <a:ext cx="110947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ACB"/>
                </a:solidFill>
                <a:latin typeface="Calibri"/>
              </a:rPr>
              <a:t>WHY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00000"/>
            <a:ext cx="11094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A5C"/>
                </a:solidFill>
                <a:latin typeface="Calibri"/>
              </a:rPr>
              <a:t>What Sets This Platform Apart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70000"/>
            <a:ext cx="5447360" cy="1070000"/>
          </a:xfrm>
          <a:prstGeom prst="rect">
            <a:avLst/>
          </a:prstGeom>
          <a:solidFill>
            <a:srgbClr val="F4F8FD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70000"/>
            <a:ext cx="5447360" cy="5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640" y="2370000"/>
            <a:ext cx="5287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Calibri"/>
              </a:rPr>
              <a:t>Single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40" y="2640000"/>
            <a:ext cx="528736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E6E7C"/>
                </a:solidFill>
                <a:latin typeface="Calibri"/>
              </a:rPr>
              <a:t>One tool for planning, execution, tracking, and reporting — no integrations needed, no data silos.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000" y="2270000"/>
            <a:ext cx="5447360" cy="1070000"/>
          </a:xfrm>
          <a:prstGeom prst="rect">
            <a:avLst/>
          </a:prstGeom>
          <a:solidFill>
            <a:srgbClr val="F4F8FD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6000" y="2270000"/>
            <a:ext cx="5447360" cy="5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6000" y="2370000"/>
            <a:ext cx="5287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Calibri"/>
              </a:rPr>
              <a:t>Role-Aware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6000" y="2640000"/>
            <a:ext cx="528736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E6E7C"/>
                </a:solidFill>
                <a:latin typeface="Calibri"/>
              </a:rPr>
              <a:t>Every user sees exactly what they need: tasks for contributors, dashboards for managers, reports for leaders.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20000"/>
            <a:ext cx="5447360" cy="1070000"/>
          </a:xfrm>
          <a:prstGeom prst="rect">
            <a:avLst/>
          </a:prstGeom>
          <a:solidFill>
            <a:srgbClr val="F4F8FD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20000"/>
            <a:ext cx="5447360" cy="5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640" y="3520000"/>
            <a:ext cx="5287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Calibri"/>
              </a:rPr>
              <a:t>Industry-Agnostic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40" y="3790000"/>
            <a:ext cx="528736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E6E7C"/>
                </a:solidFill>
                <a:latin typeface="Calibri"/>
              </a:rPr>
              <a:t>Pre-configured for IT, construction, manufacturing, healthcare, and more — ready to use on day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000" y="3420000"/>
            <a:ext cx="5447360" cy="1070000"/>
          </a:xfrm>
          <a:prstGeom prst="rect">
            <a:avLst/>
          </a:prstGeom>
          <a:solidFill>
            <a:srgbClr val="F4F8FD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000" y="3420000"/>
            <a:ext cx="5447360" cy="5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6000" y="3520000"/>
            <a:ext cx="5287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Calibri"/>
              </a:rPr>
              <a:t>AI-Native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6000" y="3790000"/>
            <a:ext cx="528736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E6E7C"/>
                </a:solidFill>
                <a:latin typeface="Calibri"/>
              </a:rPr>
              <a:t>Intelligence is built into every workflow — scheduling, risk detection, and workload balancing included.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90000"/>
            <a:ext cx="11094720" cy="1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40000"/>
            <a:ext cx="110947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ACB"/>
                </a:solidFill>
                <a:latin typeface="Calibri"/>
              </a:rPr>
              <a:t>BUSINESS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00000"/>
            <a:ext cx="11094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A5C"/>
                </a:solidFill>
                <a:latin typeface="Calibri"/>
              </a:rPr>
              <a:t>The Impact You Can Expect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30000"/>
            <a:ext cx="5472360" cy="3550000"/>
          </a:xfrm>
          <a:prstGeom prst="rect">
            <a:avLst/>
          </a:prstGeom>
          <a:solidFill>
            <a:srgbClr val="F4F8FD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30000"/>
            <a:ext cx="5472360" cy="7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640" y="2340000"/>
            <a:ext cx="53123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Calibri"/>
              </a:rPr>
              <a:t>OPERATIONAL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640" y="2590000"/>
            <a:ext cx="5312360" cy="9000"/>
          </a:xfrm>
          <a:prstGeom prst="rect">
            <a:avLst/>
          </a:prstGeom>
          <a:solidFill>
            <a:srgbClr val="B8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8640" y="2750000"/>
            <a:ext cx="30000" cy="16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40" y="2660000"/>
            <a:ext cx="5232360" cy="7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A38"/>
                </a:solidFill>
                <a:latin typeface="Calibri"/>
              </a:rPr>
              <a:t>40% reduction in project delays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640" y="3525000"/>
            <a:ext cx="30000" cy="16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40" y="3435000"/>
            <a:ext cx="5232360" cy="7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A38"/>
                </a:solidFill>
                <a:latin typeface="Calibri"/>
              </a:rPr>
              <a:t>3× faster planning cycles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640" y="4300000"/>
            <a:ext cx="30000" cy="16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40" y="4210000"/>
            <a:ext cx="5232360" cy="7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A38"/>
                </a:solidFill>
                <a:latin typeface="Calibri"/>
              </a:rPr>
              <a:t>60% less time on status reporting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640" y="5075000"/>
            <a:ext cx="30000" cy="160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40" y="4985000"/>
            <a:ext cx="5232360" cy="7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A38"/>
                </a:solidFill>
                <a:latin typeface="Calibri"/>
              </a:rPr>
              <a:t>Full resource visibility across all teams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1000" y="2230000"/>
            <a:ext cx="5472360" cy="3550000"/>
          </a:xfrm>
          <a:prstGeom prst="rect">
            <a:avLst/>
          </a:prstGeom>
          <a:solidFill>
            <a:srgbClr val="F4F8FD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1000" y="2230000"/>
            <a:ext cx="5472360" cy="70000"/>
          </a:xfrm>
          <a:prstGeom prst="rect">
            <a:avLst/>
          </a:prstGeom>
          <a:solidFill>
            <a:srgbClr val="12A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1000" y="2340000"/>
            <a:ext cx="53123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Calibri"/>
              </a:rPr>
              <a:t>STRATEGIC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1000" y="2590000"/>
            <a:ext cx="5312360" cy="9000"/>
          </a:xfrm>
          <a:prstGeom prst="rect">
            <a:avLst/>
          </a:prstGeom>
          <a:solidFill>
            <a:srgbClr val="B8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1000" y="2750000"/>
            <a:ext cx="30000" cy="160000"/>
          </a:xfrm>
          <a:prstGeom prst="rect">
            <a:avLst/>
          </a:prstGeom>
          <a:solidFill>
            <a:srgbClr val="12A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1000" y="2660000"/>
            <a:ext cx="5232360" cy="7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A38"/>
                </a:solidFill>
                <a:latin typeface="Calibri"/>
              </a:rPr>
              <a:t>Faster time-to-market on every initiative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1000" y="3525000"/>
            <a:ext cx="30000" cy="160000"/>
          </a:xfrm>
          <a:prstGeom prst="rect">
            <a:avLst/>
          </a:prstGeom>
          <a:solidFill>
            <a:srgbClr val="12A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1000" y="3435000"/>
            <a:ext cx="5232360" cy="7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A38"/>
                </a:solidFill>
                <a:latin typeface="Calibri"/>
              </a:rPr>
              <a:t>Higher project success and on-time delivery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1000" y="4300000"/>
            <a:ext cx="30000" cy="160000"/>
          </a:xfrm>
          <a:prstGeom prst="rect">
            <a:avLst/>
          </a:prstGeom>
          <a:solidFill>
            <a:srgbClr val="12A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1000" y="4210000"/>
            <a:ext cx="5232360" cy="7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A38"/>
                </a:solidFill>
                <a:latin typeface="Calibri"/>
              </a:rPr>
              <a:t>Reduced operational risk and missed deadlines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51000" y="5075000"/>
            <a:ext cx="30000" cy="160000"/>
          </a:xfrm>
          <a:prstGeom prst="rect">
            <a:avLst/>
          </a:prstGeom>
          <a:solidFill>
            <a:srgbClr val="12A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1000" y="4985000"/>
            <a:ext cx="5232360" cy="7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A38"/>
                </a:solidFill>
                <a:latin typeface="Calibri"/>
              </a:rPr>
              <a:t>Scales from 10 to 10,000+ users without friction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90000"/>
            <a:ext cx="11094720" cy="1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40000"/>
            <a:ext cx="110947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ACB"/>
                </a:solidFill>
                <a:latin typeface="Calibri"/>
              </a:rPr>
              <a:t>OUR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00000"/>
            <a:ext cx="11094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A5C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8640" y="2250000"/>
            <a:ext cx="1029472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1A3A5C"/>
                </a:solidFill>
                <a:latin typeface="Calibri"/>
              </a:rPr>
              <a:t>"A world where every team has the clarity, tools, and intelligence to deliver — on time, every time."</a:t>
            </a:r>
          </a:p>
        </p:txBody>
      </p:sp>
      <p:sp>
        <p:nvSpPr>
          <p:cNvPr id="6" name="Rectangle 5"/>
          <p:cNvSpPr/>
          <p:nvPr/>
        </p:nvSpPr>
        <p:spPr>
          <a:xfrm>
            <a:off x="4896000" y="4000000"/>
            <a:ext cx="2400000" cy="1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130000"/>
            <a:ext cx="110947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E6E7C"/>
                </a:solidFill>
                <a:latin typeface="Calibri"/>
              </a:rPr>
              <a:t>— Inventia Product Vision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00000" y="2000000"/>
            <a:ext cx="91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Let's Build Better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096000" y="2800000"/>
            <a:ext cx="4000000" cy="1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0" y="2920000"/>
            <a:ext cx="9192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www.inventia.in  ·  info@inventia.in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11078</TotalTime>
  <Words>63</Words>
  <Application>Microsoft Office PowerPoint</Application>
  <PresentationFormat>Widescreen</PresentationFormat>
  <Paragraphs>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Saurabh Varshney</dc:creator>
  <cp:lastModifiedBy>Kuberji Dixit</cp:lastModifiedBy>
  <cp:revision>332</cp:revision>
  <dcterms:created xsi:type="dcterms:W3CDTF">2024-05-01T05:46:46Z</dcterms:created>
  <dcterms:modified xsi:type="dcterms:W3CDTF">2024-08-05T09:27:00Z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1550709108</vt:i4>
  </property>
  <property fmtid="{D5CDD505-2E9C-101B-9397-08002B2CF9AE}" pid="3" name="_NewReviewCycle">
    <vt:lpwstr/>
  </property>
  <property fmtid="{D5CDD505-2E9C-101B-9397-08002B2CF9AE}" pid="4" name="_EmailSubject">
    <vt:lpwstr>CSPDCL Demo Prepration</vt:lpwstr>
  </property>
  <property fmtid="{D5CDD505-2E9C-101B-9397-08002B2CF9AE}" pid="5" name="_AuthorEmail">
    <vt:lpwstr>Saurabh.V@inventia.in</vt:lpwstr>
  </property>
  <property fmtid="{D5CDD505-2E9C-101B-9397-08002B2CF9AE}" pid="6" name="_AuthorEmailDisplayName">
    <vt:lpwstr>Saurabh Varshney</vt:lpwstr>
  </property>
</Properties>
</file>