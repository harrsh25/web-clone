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8ACB"/>
    <a:srgbClr val="EF8B1D"/>
    <a:srgbClr val="000000"/>
    <a:srgbClr val="20386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41" autoAdjust="0"/>
  </p:normalViewPr>
  <p:slideViewPr>
    <p:cSldViewPr snapToGrid="0">
      <p:cViewPr>
        <p:scale>
          <a:sx n="66" d="100"/>
          <a:sy n="66" d="100"/>
        </p:scale>
        <p:origin x="1253" y="2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9546C-4D24-422E-A01B-7F6E772296A0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F279F-93F8-42A4-803E-9143DB1251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50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4B033E-735C-8588-FCDE-C536FEA86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09655"/>
            <a:ext cx="4641405" cy="3297555"/>
          </a:xfrm>
          <a:prstGeom prst="rect">
            <a:avLst/>
          </a:prstGeom>
        </p:spPr>
      </p:pic>
      <p:pic>
        <p:nvPicPr>
          <p:cNvPr id="5" name="Graphic 26">
            <a:extLst>
              <a:ext uri="{FF2B5EF4-FFF2-40B4-BE49-F238E27FC236}">
                <a16:creationId xmlns:a16="http://schemas.microsoft.com/office/drawing/2014/main" id="{4C7FC5CB-4550-4E7C-7ED9-45DCFC54EF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15" b="8702"/>
          <a:stretch/>
        </p:blipFill>
        <p:spPr>
          <a:xfrm>
            <a:off x="0" y="3560442"/>
            <a:ext cx="12192000" cy="329755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1A6EDA1-A4EB-40AD-4688-115062150A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34434" y="2"/>
            <a:ext cx="2357566" cy="229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0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0"/>
    </mc:Choice>
    <mc:Fallback xmlns="">
      <p:transition spd="slow" advClick="0" advTm="10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2054F27-CE62-832A-D648-094184D66E3C}"/>
              </a:ext>
            </a:extLst>
          </p:cNvPr>
          <p:cNvGrpSpPr/>
          <p:nvPr userDrawn="1"/>
        </p:nvGrpSpPr>
        <p:grpSpPr>
          <a:xfrm flipV="1">
            <a:off x="0" y="6025896"/>
            <a:ext cx="12192000" cy="832104"/>
            <a:chOff x="0" y="-2"/>
            <a:chExt cx="12192000" cy="83164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A3BE10F-2227-42E2-114B-8E339EE3CD16}"/>
                </a:ext>
              </a:extLst>
            </p:cNvPr>
            <p:cNvSpPr/>
            <p:nvPr userDrawn="1"/>
          </p:nvSpPr>
          <p:spPr>
            <a:xfrm flipV="1">
              <a:off x="0" y="-2"/>
              <a:ext cx="12192000" cy="831649"/>
            </a:xfrm>
            <a:custGeom>
              <a:avLst/>
              <a:gdLst>
                <a:gd name="connsiteX0" fmla="*/ 0 w 12192000"/>
                <a:gd name="connsiteY0" fmla="*/ 970962 h 970962"/>
                <a:gd name="connsiteX1" fmla="*/ 12192000 w 12192000"/>
                <a:gd name="connsiteY1" fmla="*/ 970962 h 970962"/>
                <a:gd name="connsiteX2" fmla="*/ 12192000 w 12192000"/>
                <a:gd name="connsiteY2" fmla="*/ 707011 h 970962"/>
                <a:gd name="connsiteX3" fmla="*/ 2983584 w 12192000"/>
                <a:gd name="connsiteY3" fmla="*/ 707011 h 970962"/>
                <a:gd name="connsiteX4" fmla="*/ 2573517 w 12192000"/>
                <a:gd name="connsiteY4" fmla="*/ 0 h 970962"/>
                <a:gd name="connsiteX5" fmla="*/ 1 w 12192000"/>
                <a:gd name="connsiteY5" fmla="*/ 0 h 970962"/>
                <a:gd name="connsiteX6" fmla="*/ 1 w 12192000"/>
                <a:gd name="connsiteY6" fmla="*/ 707011 h 970962"/>
                <a:gd name="connsiteX7" fmla="*/ 0 w 12192000"/>
                <a:gd name="connsiteY7" fmla="*/ 707011 h 97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970962">
                  <a:moveTo>
                    <a:pt x="0" y="970962"/>
                  </a:moveTo>
                  <a:lnTo>
                    <a:pt x="12192000" y="970962"/>
                  </a:lnTo>
                  <a:lnTo>
                    <a:pt x="12192000" y="707011"/>
                  </a:lnTo>
                  <a:lnTo>
                    <a:pt x="2983584" y="707011"/>
                  </a:lnTo>
                  <a:lnTo>
                    <a:pt x="2573517" y="0"/>
                  </a:lnTo>
                  <a:lnTo>
                    <a:pt x="1" y="0"/>
                  </a:lnTo>
                  <a:lnTo>
                    <a:pt x="1" y="707011"/>
                  </a:lnTo>
                  <a:lnTo>
                    <a:pt x="0" y="70701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1EA79C"/>
                </a:gs>
                <a:gs pos="64000">
                  <a:srgbClr val="008AC9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9157119-1A64-0113-C0D8-89605FF77782}"/>
                </a:ext>
              </a:extLst>
            </p:cNvPr>
            <p:cNvGrpSpPr/>
            <p:nvPr userDrawn="1"/>
          </p:nvGrpSpPr>
          <p:grpSpPr>
            <a:xfrm>
              <a:off x="1047" y="355200"/>
              <a:ext cx="12190953" cy="405542"/>
              <a:chOff x="2810235" y="4558270"/>
              <a:chExt cx="12190953" cy="569911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1E22DE0-243A-3758-772C-D07D5AB514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0235" y="4558270"/>
                <a:ext cx="356128" cy="569911"/>
              </a:xfrm>
              <a:prstGeom prst="line">
                <a:avLst/>
              </a:prstGeom>
              <a:ln>
                <a:gradFill flip="none" rotWithShape="1">
                  <a:gsLst>
                    <a:gs pos="100000">
                      <a:srgbClr val="008AC9"/>
                    </a:gs>
                    <a:gs pos="0">
                      <a:srgbClr val="1EA79C"/>
                    </a:gs>
                  </a:gsLst>
                  <a:lin ang="1920000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9F8ED62-99BC-2A87-809E-D1E9F14B21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5316" y="5128181"/>
                <a:ext cx="11835872" cy="0"/>
              </a:xfrm>
              <a:prstGeom prst="line">
                <a:avLst/>
              </a:prstGeom>
              <a:ln>
                <a:gradFill flip="none" rotWithShape="1">
                  <a:gsLst>
                    <a:gs pos="100000">
                      <a:srgbClr val="008AC9"/>
                    </a:gs>
                    <a:gs pos="0">
                      <a:srgbClr val="1EA79C"/>
                    </a:gs>
                  </a:gsLst>
                  <a:lin ang="19200000" scaled="0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8353514-9094-34EA-650C-1F92387B88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1" t="45683" r="7351" b="-1311"/>
          <a:stretch/>
        </p:blipFill>
        <p:spPr>
          <a:xfrm>
            <a:off x="0" y="0"/>
            <a:ext cx="12192000" cy="16002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E19A3EC-A2AE-F88D-434C-EE875D54B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688" y="6211386"/>
            <a:ext cx="1623651" cy="4541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DD558D-66B3-036F-D988-B07003D818F9}"/>
              </a:ext>
            </a:extLst>
          </p:cNvPr>
          <p:cNvSpPr txBox="1"/>
          <p:nvPr userDrawn="1"/>
        </p:nvSpPr>
        <p:spPr>
          <a:xfrm>
            <a:off x="7052392" y="6220516"/>
            <a:ext cx="4931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spc="300" dirty="0"/>
              <a:t>WWW.</a:t>
            </a:r>
            <a:r>
              <a:rPr lang="fr-FR" sz="1400" b="1" spc="300" dirty="0">
                <a:solidFill>
                  <a:srgbClr val="1E8ACB"/>
                </a:solidFill>
              </a:rPr>
              <a:t>INVENTIA</a:t>
            </a:r>
            <a:r>
              <a:rPr lang="fr-FR" sz="1400" b="1" spc="300" dirty="0"/>
              <a:t>.IN  |  INFO@</a:t>
            </a:r>
            <a:r>
              <a:rPr lang="fr-FR" sz="1400" b="1" spc="300" dirty="0">
                <a:solidFill>
                  <a:srgbClr val="1E8ACB"/>
                </a:solidFill>
              </a:rPr>
              <a:t>INVENTIA</a:t>
            </a:r>
            <a:r>
              <a:rPr lang="fr-FR" sz="1400" b="1" spc="300" dirty="0"/>
              <a:t>.IN</a:t>
            </a:r>
            <a:endParaRPr lang="en-IN" sz="1400" b="1" spc="300" dirty="0"/>
          </a:p>
        </p:txBody>
      </p:sp>
    </p:spTree>
    <p:extLst>
      <p:ext uri="{BB962C8B-B14F-4D97-AF65-F5344CB8AC3E}">
        <p14:creationId xmlns:p14="http://schemas.microsoft.com/office/powerpoint/2010/main" val="150689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Phone Backgrounds — Simplistic white backgrounds ◽️◻️⬜️">
            <a:extLst>
              <a:ext uri="{FF2B5EF4-FFF2-40B4-BE49-F238E27FC236}">
                <a16:creationId xmlns:a16="http://schemas.microsoft.com/office/drawing/2014/main" id="{33E553F8-3020-9126-AB0B-3F98EEAAFF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71232" y="-2671237"/>
            <a:ext cx="6849535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1E0808-F3B8-A171-1215-DAA5A4C72076}"/>
              </a:ext>
            </a:extLst>
          </p:cNvPr>
          <p:cNvSpPr/>
          <p:nvPr userDrawn="1"/>
        </p:nvSpPr>
        <p:spPr>
          <a:xfrm>
            <a:off x="0" y="-1"/>
            <a:ext cx="12192000" cy="71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BEC342-96AD-0852-2A34-99F0CB3258E0}"/>
              </a:ext>
            </a:extLst>
          </p:cNvPr>
          <p:cNvSpPr/>
          <p:nvPr userDrawn="1"/>
        </p:nvSpPr>
        <p:spPr>
          <a:xfrm>
            <a:off x="0" y="6786281"/>
            <a:ext cx="12192000" cy="71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4161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7DB5F8-FEF4-EDF4-5C50-C4C8F74B6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A1FB8-C4D3-870C-0791-5EF9B833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71C9D-8D41-FBA5-EBB1-9EE453992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70F1D-28F1-40EC-A00C-613D14E842B0}" type="datetimeFigureOut">
              <a:rPr lang="en-IN" smtClean="0"/>
              <a:t>05-08-2024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BF65F-C0DC-AE27-7A27-5DF7C4A8C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FABFF-1946-2227-E22C-001A26D79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76785-C26B-4EDD-8C99-F401653FB9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325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800000"/>
            <a:ext cx="9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C2A38"/>
                </a:solidFill>
              </a:rPr>
              <a:t>Workforce Management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0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0070C0"/>
                </a:solidFill>
              </a:rPr>
              <a:t>Plan Smarter. Execute Faster. Deliver More.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3300000"/>
            <a:ext cx="5000000" cy="127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350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E6E7C"/>
                </a:solidFill>
              </a:rPr>
              <a:t>Inventia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0000" y="6200000"/>
            <a:ext cx="2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E6E7C"/>
                </a:solidFill>
              </a:rPr>
              <a:t>v1.0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0000"/>
            <a:ext cx="8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0070C0"/>
                </a:solidFill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00000"/>
            <a:ext cx="2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0070C0"/>
                </a:solidFill>
              </a:rPr>
              <a:t>3x Faster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E6E7C"/>
                </a:solidFill>
              </a:rPr>
              <a:t>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900000"/>
            <a:ext cx="2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0070C0"/>
                </a:solidFill>
              </a:rP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0" y="160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E6E7C"/>
                </a:solidFill>
              </a:rPr>
              <a:t>Less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0000" y="900000"/>
            <a:ext cx="2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0070C0"/>
                </a:solidFill>
              </a:rPr>
              <a:t>Real-Time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0000" y="1600000"/>
            <a:ext cx="2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E6E7C"/>
                </a:solidFill>
              </a:rPr>
              <a:t>Visibility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00000"/>
            <a:ext cx="10912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2A38"/>
                </a:solidFill>
              </a:rPr>
              <a:t>The Workforce Management Platform gives every team member, manager, and executive the clarity and control they need — from individual task planning to portfolio-level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0000"/>
            <a:ext cx="3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8F0F8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70C0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2A38"/>
                </a:solidFill>
              </a:rPr>
              <a:t>Why Teams Struggle to Deliver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70C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0000" y="1400000"/>
            <a:ext cx="9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2A38"/>
                </a:solidFill>
              </a:rPr>
              <a:t>Projects run on spreadsheets and disconnected tools, causing version chaos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70C0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0000" y="2200000"/>
            <a:ext cx="9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2A38"/>
                </a:solidFill>
              </a:rPr>
              <a:t>Managers lack real-time visibility into who is doing what and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70C0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0000" y="3000000"/>
            <a:ext cx="9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2A38"/>
                </a:solidFill>
              </a:rPr>
              <a:t>Approval cycles are manual, slow, and create bottlenecks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70C0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0000" y="3800000"/>
            <a:ext cx="9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2A38"/>
                </a:solidFill>
              </a:rPr>
              <a:t>No single source of truth for project health, resources, or timelines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00000"/>
            <a:ext cx="10912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00000"/>
            <a:ext cx="10912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00000"/>
            <a:ext cx="10912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0000"/>
            <a:ext cx="3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8F0F8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70C0"/>
                </a:solidFill>
              </a:rPr>
              <a:t>WHO IT'S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2A38"/>
                </a:solidFill>
              </a:rPr>
              <a:t>Built for Every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C2A38"/>
                </a:solidFill>
              </a:rPr>
              <a:t>IT &amp;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E6E7C"/>
                </a:solidFill>
              </a:rPr>
              <a:t>Sprint planning, release tracking, and resource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C2A38"/>
                </a:solidFill>
              </a:rPr>
              <a:t>Manufacturing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E6E7C"/>
                </a:solidFill>
              </a:rPr>
              <a:t>Production scheduling, shift planning, and capacity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C2A38"/>
                </a:solidFill>
              </a:rPr>
              <a:t>Healthcare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8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E6E7C"/>
                </a:solidFill>
              </a:rPr>
              <a:t>Staff scheduling, compliance tracking, and project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000" y="15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C2A38"/>
                </a:solidFill>
              </a:rPr>
              <a:t>Construction &amp; EPC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0" y="178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E6E7C"/>
                </a:solidFill>
              </a:rPr>
              <a:t>WBS planning, milestone tracking, and subcontractor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26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C2A38"/>
                </a:solidFill>
              </a:rPr>
              <a:t>Professional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288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E6E7C"/>
                </a:solidFill>
              </a:rPr>
              <a:t>Client project delivery, utilization tracking, and 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0000" y="37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C2A38"/>
                </a:solidFill>
              </a:rPr>
              <a:t>Financial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0000" y="398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E6E7C"/>
                </a:solidFill>
              </a:rPr>
              <a:t>Regulatory project tracking, audit trails, and risk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400000"/>
            <a:ext cx="5000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0000" y="2400000"/>
            <a:ext cx="5000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00000"/>
            <a:ext cx="5000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0000" y="3500000"/>
            <a:ext cx="5000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0000"/>
            <a:ext cx="3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8F0F8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70C0"/>
                </a:solidFill>
              </a:rPr>
              <a:t>PROJECT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0000"/>
            <a:ext cx="6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C2A38"/>
                </a:solidFill>
              </a:rPr>
              <a:t>Structured Project Planning from Day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0000"/>
            <a:ext cx="6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Hierarchical WBS with unlimited nesting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Baseline vs. actual tracking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Milestone and dependency management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Real-time schedule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0000" y="1200000"/>
            <a:ext cx="3800000" cy="3800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00000" y="1200000"/>
            <a:ext cx="50800" cy="380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0000" y="1280000"/>
            <a:ext cx="3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12A8BC"/>
                </a:solidFill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000" y="1450000"/>
            <a:ext cx="3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C2A38"/>
                </a:solidFill>
              </a:rPr>
              <a:t>Teams complete projects 30% faster with clear ownership and structured planning built in from day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0000"/>
            <a:ext cx="3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8F0F8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70C0"/>
                </a:solidFill>
              </a:rPr>
              <a:t>PERSONAL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0000"/>
            <a:ext cx="6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C2A38"/>
                </a:solidFill>
              </a:rPr>
              <a:t>Every Team Member Knows What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0000"/>
            <a:ext cx="6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Personal task dashboard with priorities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Daily and weekly work planning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Progress tracking by individual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Seamless manager visibility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0000" y="1200000"/>
            <a:ext cx="3800000" cy="3800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00000" y="1200000"/>
            <a:ext cx="50800" cy="380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0000" y="1280000"/>
            <a:ext cx="3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12A8BC"/>
                </a:solidFill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000" y="1450000"/>
            <a:ext cx="3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C2A38"/>
                </a:solidFill>
              </a:rPr>
              <a:t>Individual contributors spend less time in meetings and more time executing — with full clarity on priorities.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0000"/>
            <a:ext cx="3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8F0F8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70C0"/>
                </a:solidFill>
              </a:rPr>
              <a:t>MANAGEMENT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0000"/>
            <a:ext cx="6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C2A38"/>
                </a:solidFill>
              </a:rPr>
              <a:t>Real-Time View Across All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0000"/>
            <a:ext cx="6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Portfolio-level project health at a glance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Resource utilization heatmaps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Budget vs. actual tracking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One-click drill-down to task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0000" y="1200000"/>
            <a:ext cx="3800000" cy="3800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00000" y="1200000"/>
            <a:ext cx="50800" cy="380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0000" y="1280000"/>
            <a:ext cx="3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12A8BC"/>
                </a:solidFill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000" y="1450000"/>
            <a:ext cx="3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C2A38"/>
                </a:solidFill>
              </a:rPr>
              <a:t>Managers make faster, better decisions with live data instead of waiting for status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0000"/>
            <a:ext cx="3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8F0F8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70C0"/>
                </a:solidFill>
              </a:rPr>
              <a:t>AI &amp;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2A38"/>
                </a:solidFill>
              </a:rPr>
              <a:t>Intelligence Built Into Every Workflow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00000"/>
            <a:ext cx="457200" cy="457200"/>
          </a:xfrm>
          <a:prstGeom prst="ellipse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16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C2A38"/>
                </a:solidFill>
              </a:rPr>
              <a:t>Smart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" y="19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E6E7C"/>
                </a:solidFill>
              </a:rPr>
              <a:t>AI-suggested timelines based on team capacity and past performance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00000"/>
            <a:ext cx="457200" cy="457200"/>
          </a:xfrm>
          <a:prstGeom prst="ellipse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0000" y="27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C2A38"/>
                </a:solidFill>
              </a:rPr>
              <a:t>Risk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000" y="30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E6E7C"/>
                </a:solidFill>
              </a:rPr>
              <a:t>Automatically flags at-risk tasks before they cause delays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00000"/>
            <a:ext cx="457200" cy="457200"/>
          </a:xfrm>
          <a:prstGeom prst="ellipse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0000" y="38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C2A38"/>
                </a:solidFill>
              </a:rPr>
              <a:t>Workload Balancing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000" y="410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E6E7C"/>
                </a:solidFill>
              </a:rPr>
              <a:t>Recommends reallocation when team members are over or under-utilized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00000"/>
            <a:ext cx="10912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00000"/>
            <a:ext cx="10912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0000"/>
            <a:ext cx="3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8F0F8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70C0"/>
                </a:solidFill>
              </a:rPr>
              <a:t>APPROVALS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0000"/>
            <a:ext cx="6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C2A38"/>
                </a:solidFill>
              </a:rPr>
              <a:t>Compliant, Auditable Approval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0000"/>
            <a:ext cx="6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Multi-level approval chains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Auto-escalation on SLA breach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Full audit trail for every action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Role-based access and visibility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0000" y="1200000"/>
            <a:ext cx="3800000" cy="3800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00000" y="1200000"/>
            <a:ext cx="50800" cy="3800000"/>
          </a:xfrm>
          <a:prstGeom prst="rect">
            <a:avLst/>
          </a:prstGeom>
          <a:solidFill>
            <a:srgbClr val="12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0000" y="1280000"/>
            <a:ext cx="3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12A8BC"/>
                </a:solidFill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000" y="1450000"/>
            <a:ext cx="3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C2A38"/>
                </a:solidFill>
              </a:rPr>
              <a:t>Governance without the bottleneck — structured approvals that move at the speed of business.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0000"/>
            <a:ext cx="3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8F0F8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70C0"/>
                </a:solidFill>
              </a:rPr>
              <a:t>WHY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2A38"/>
                </a:solidFill>
              </a:rPr>
              <a:t>What Sets Us Apart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70C0"/>
                </a:solidFill>
              </a:rPr>
              <a:t>Single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000" y="1500000"/>
            <a:ext cx="83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2A38"/>
                </a:solidFill>
              </a:rPr>
              <a:t>One tool for planning, execution, tracking, and reporting — no integrations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70C0"/>
                </a:solidFill>
              </a:rPr>
              <a:t>Role-Aware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2400000"/>
            <a:ext cx="83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2A38"/>
                </a:solidFill>
              </a:rPr>
              <a:t>Every user sees exactly what they need: tasks, dashboards, or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70C0"/>
                </a:solidFill>
              </a:rPr>
              <a:t>Industry-Agnostic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000" y="3300000"/>
            <a:ext cx="83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2A38"/>
                </a:solidFill>
              </a:rPr>
              <a:t>Pre-configured for IT, construction, manufacturing, and 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0000"/>
            <a:ext cx="2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70C0"/>
                </a:solidFill>
              </a:rPr>
              <a:t>AI-Native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000" y="4200000"/>
            <a:ext cx="83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C2A38"/>
                </a:solidFill>
              </a:rPr>
              <a:t>Intelligence built into workflows, not bolted 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00000"/>
            <a:ext cx="10912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00000"/>
            <a:ext cx="10912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00000"/>
            <a:ext cx="10912000" cy="127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0000"/>
            <a:ext cx="3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E8F0F8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000"/>
            <a:ext cx="4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0070C0"/>
                </a:solidFill>
              </a:rPr>
              <a:t>BUSINESS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C2A38"/>
                </a:solidFill>
              </a:rPr>
              <a:t>Measurable Impact at Every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0" y="1300000"/>
            <a:ext cx="12700" cy="4000000"/>
          </a:xfrm>
          <a:prstGeom prst="rect">
            <a:avLst/>
          </a:prstGeom>
          <a:solidFill>
            <a:srgbClr val="E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0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0C0"/>
                </a:solidFill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000"/>
            <a:ext cx="51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40% reduction in project delays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3x faster planning cycles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60% less time on status reporting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Full resource visibility across teams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0" y="130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70C0"/>
                </a:solidFill>
              </a:rPr>
              <a:t>STRATEGIC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000" y="1600000"/>
            <a:ext cx="5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Faster time-to-market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Higher project success rate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Reduced operational risk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1C2A38"/>
                </a:solidFill>
              </a:rPr>
              <a:t>• Scalable across 10 to 10,000 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1800000"/>
            <a:ext cx="1019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C2A38"/>
                </a:solidFill>
              </a:rPr>
              <a:t>"A world where every team has the clarity, tools, and intelligence to deliver — on time, every time."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00000" y="3900000"/>
            <a:ext cx="3192000" cy="127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4100000"/>
            <a:ext cx="1019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E6E7C"/>
                </a:solidFill>
              </a:rPr>
              <a:t>— Inventia Product Vision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0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C2A38"/>
                </a:solidFill>
              </a:rPr>
              <a:t>Let's Build Better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800000"/>
            <a:ext cx="5000000" cy="127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31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0070C0"/>
                </a:solidFill>
              </a:rPr>
              <a:t>www.inventia.com | contact@inventia.com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60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E6E7C"/>
                </a:solidFill>
              </a:rPr>
              <a:t>Inventia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11078</TotalTime>
  <Words>63</Words>
  <Application>Microsoft Office PowerPoint</Application>
  <PresentationFormat>Widescreen</PresentationFormat>
  <Paragraphs>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Saurabh Varshney</dc:creator>
  <cp:lastModifiedBy>Kuberji Dixit</cp:lastModifiedBy>
  <cp:revision>332</cp:revision>
  <dcterms:created xsi:type="dcterms:W3CDTF">2024-05-01T05:46:46Z</dcterms:created>
  <dcterms:modified xsi:type="dcterms:W3CDTF">2024-08-05T09:27:00Z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1550709108</vt:i4>
  </property>
  <property fmtid="{D5CDD505-2E9C-101B-9397-08002B2CF9AE}" pid="3" name="_NewReviewCycle">
    <vt:lpwstr/>
  </property>
  <property fmtid="{D5CDD505-2E9C-101B-9397-08002B2CF9AE}" pid="4" name="_EmailSubject">
    <vt:lpwstr>CSPDCL Demo Prepration</vt:lpwstr>
  </property>
  <property fmtid="{D5CDD505-2E9C-101B-9397-08002B2CF9AE}" pid="5" name="_AuthorEmail">
    <vt:lpwstr>Saurabh.V@inventia.in</vt:lpwstr>
  </property>
  <property fmtid="{D5CDD505-2E9C-101B-9397-08002B2CF9AE}" pid="6" name="_AuthorEmailDisplayName">
    <vt:lpwstr>Saurabh Varshney</vt:lpwstr>
  </property>
</Properties>
</file>