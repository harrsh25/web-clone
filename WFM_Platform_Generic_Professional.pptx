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8ACB"/>
    <a:srgbClr val="EF8B1D"/>
    <a:srgbClr val="000000"/>
    <a:srgbClr val="203864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741" autoAdjust="0"/>
  </p:normalViewPr>
  <p:slideViewPr>
    <p:cSldViewPr snapToGrid="0">
      <p:cViewPr>
        <p:scale>
          <a:sx n="66" d="100"/>
          <a:sy n="66" d="100"/>
        </p:scale>
        <p:origin x="1253" y="2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F9546C-4D24-422E-A01B-7F6E772296A0}" type="datetimeFigureOut">
              <a:rPr lang="en-IN" smtClean="0"/>
              <a:t>05-08-2024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2F279F-93F8-42A4-803E-9143DB1251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1500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4B033E-735C-8588-FCDE-C536FEA861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109655"/>
            <a:ext cx="4641405" cy="3297555"/>
          </a:xfrm>
          <a:prstGeom prst="rect">
            <a:avLst/>
          </a:prstGeom>
        </p:spPr>
      </p:pic>
      <p:pic>
        <p:nvPicPr>
          <p:cNvPr id="5" name="Graphic 26">
            <a:extLst>
              <a:ext uri="{FF2B5EF4-FFF2-40B4-BE49-F238E27FC236}">
                <a16:creationId xmlns:a16="http://schemas.microsoft.com/office/drawing/2014/main" id="{4C7FC5CB-4550-4E7C-7ED9-45DCFC54EF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415" b="8702"/>
          <a:stretch/>
        </p:blipFill>
        <p:spPr>
          <a:xfrm>
            <a:off x="0" y="3560442"/>
            <a:ext cx="12192000" cy="3297556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C1A6EDA1-A4EB-40AD-4688-115062150AF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34434" y="2"/>
            <a:ext cx="2357566" cy="2295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500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0"/>
    </mc:Choice>
    <mc:Fallback xmlns="">
      <p:transition spd="slow" advClick="0" advTm="10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2054F27-CE62-832A-D648-094184D66E3C}"/>
              </a:ext>
            </a:extLst>
          </p:cNvPr>
          <p:cNvGrpSpPr/>
          <p:nvPr userDrawn="1"/>
        </p:nvGrpSpPr>
        <p:grpSpPr>
          <a:xfrm flipV="1">
            <a:off x="0" y="6025896"/>
            <a:ext cx="12192000" cy="832104"/>
            <a:chOff x="0" y="-2"/>
            <a:chExt cx="12192000" cy="83164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4A3BE10F-2227-42E2-114B-8E339EE3CD16}"/>
                </a:ext>
              </a:extLst>
            </p:cNvPr>
            <p:cNvSpPr/>
            <p:nvPr userDrawn="1"/>
          </p:nvSpPr>
          <p:spPr>
            <a:xfrm flipV="1">
              <a:off x="0" y="-2"/>
              <a:ext cx="12192000" cy="831649"/>
            </a:xfrm>
            <a:custGeom>
              <a:avLst/>
              <a:gdLst>
                <a:gd name="connsiteX0" fmla="*/ 0 w 12192000"/>
                <a:gd name="connsiteY0" fmla="*/ 970962 h 970962"/>
                <a:gd name="connsiteX1" fmla="*/ 12192000 w 12192000"/>
                <a:gd name="connsiteY1" fmla="*/ 970962 h 970962"/>
                <a:gd name="connsiteX2" fmla="*/ 12192000 w 12192000"/>
                <a:gd name="connsiteY2" fmla="*/ 707011 h 970962"/>
                <a:gd name="connsiteX3" fmla="*/ 2983584 w 12192000"/>
                <a:gd name="connsiteY3" fmla="*/ 707011 h 970962"/>
                <a:gd name="connsiteX4" fmla="*/ 2573517 w 12192000"/>
                <a:gd name="connsiteY4" fmla="*/ 0 h 970962"/>
                <a:gd name="connsiteX5" fmla="*/ 1 w 12192000"/>
                <a:gd name="connsiteY5" fmla="*/ 0 h 970962"/>
                <a:gd name="connsiteX6" fmla="*/ 1 w 12192000"/>
                <a:gd name="connsiteY6" fmla="*/ 707011 h 970962"/>
                <a:gd name="connsiteX7" fmla="*/ 0 w 12192000"/>
                <a:gd name="connsiteY7" fmla="*/ 707011 h 970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970962">
                  <a:moveTo>
                    <a:pt x="0" y="970962"/>
                  </a:moveTo>
                  <a:lnTo>
                    <a:pt x="12192000" y="970962"/>
                  </a:lnTo>
                  <a:lnTo>
                    <a:pt x="12192000" y="707011"/>
                  </a:lnTo>
                  <a:lnTo>
                    <a:pt x="2983584" y="707011"/>
                  </a:lnTo>
                  <a:lnTo>
                    <a:pt x="2573517" y="0"/>
                  </a:lnTo>
                  <a:lnTo>
                    <a:pt x="1" y="0"/>
                  </a:lnTo>
                  <a:lnTo>
                    <a:pt x="1" y="707011"/>
                  </a:lnTo>
                  <a:lnTo>
                    <a:pt x="0" y="707011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1EA79C"/>
                </a:gs>
                <a:gs pos="64000">
                  <a:srgbClr val="008AC9"/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9157119-1A64-0113-C0D8-89605FF77782}"/>
                </a:ext>
              </a:extLst>
            </p:cNvPr>
            <p:cNvGrpSpPr/>
            <p:nvPr userDrawn="1"/>
          </p:nvGrpSpPr>
          <p:grpSpPr>
            <a:xfrm>
              <a:off x="1047" y="355200"/>
              <a:ext cx="12190953" cy="405542"/>
              <a:chOff x="2810235" y="4558270"/>
              <a:chExt cx="12190953" cy="569911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31E22DE0-243A-3758-772C-D07D5AB514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10235" y="4558270"/>
                <a:ext cx="356128" cy="569911"/>
              </a:xfrm>
              <a:prstGeom prst="line">
                <a:avLst/>
              </a:prstGeom>
              <a:ln>
                <a:gradFill flip="none" rotWithShape="1">
                  <a:gsLst>
                    <a:gs pos="100000">
                      <a:srgbClr val="008AC9"/>
                    </a:gs>
                    <a:gs pos="0">
                      <a:srgbClr val="1EA79C"/>
                    </a:gs>
                  </a:gsLst>
                  <a:lin ang="19200000" scaled="0"/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D9F8ED62-99BC-2A87-809E-D1E9F14B21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65316" y="5128181"/>
                <a:ext cx="11835872" cy="0"/>
              </a:xfrm>
              <a:prstGeom prst="line">
                <a:avLst/>
              </a:prstGeom>
              <a:ln>
                <a:gradFill flip="none" rotWithShape="1">
                  <a:gsLst>
                    <a:gs pos="100000">
                      <a:srgbClr val="008AC9"/>
                    </a:gs>
                    <a:gs pos="0">
                      <a:srgbClr val="1EA79C"/>
                    </a:gs>
                  </a:gsLst>
                  <a:lin ang="19200000" scaled="0"/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68353514-9094-34EA-650C-1F92387B88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1" t="45683" r="7351" b="-1311"/>
          <a:stretch/>
        </p:blipFill>
        <p:spPr>
          <a:xfrm>
            <a:off x="0" y="0"/>
            <a:ext cx="12192000" cy="16002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1E19A3EC-A2AE-F88D-434C-EE875D54B3C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8688" y="6211386"/>
            <a:ext cx="1623651" cy="45410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EDD558D-66B3-036F-D988-B07003D818F9}"/>
              </a:ext>
            </a:extLst>
          </p:cNvPr>
          <p:cNvSpPr txBox="1"/>
          <p:nvPr userDrawn="1"/>
        </p:nvSpPr>
        <p:spPr>
          <a:xfrm>
            <a:off x="7052392" y="6220516"/>
            <a:ext cx="4931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400" b="1" spc="300" dirty="0"/>
              <a:t>WWW.</a:t>
            </a:r>
            <a:r>
              <a:rPr lang="fr-FR" sz="1400" b="1" spc="300" dirty="0">
                <a:solidFill>
                  <a:srgbClr val="1E8ACB"/>
                </a:solidFill>
              </a:rPr>
              <a:t>INVENTIA</a:t>
            </a:r>
            <a:r>
              <a:rPr lang="fr-FR" sz="1400" b="1" spc="300" dirty="0"/>
              <a:t>.IN  |  INFO@</a:t>
            </a:r>
            <a:r>
              <a:rPr lang="fr-FR" sz="1400" b="1" spc="300" dirty="0">
                <a:solidFill>
                  <a:srgbClr val="1E8ACB"/>
                </a:solidFill>
              </a:rPr>
              <a:t>INVENTIA</a:t>
            </a:r>
            <a:r>
              <a:rPr lang="fr-FR" sz="1400" b="1" spc="300" dirty="0"/>
              <a:t>.IN</a:t>
            </a:r>
            <a:endParaRPr lang="en-IN" sz="1400" b="1" spc="300" dirty="0"/>
          </a:p>
        </p:txBody>
      </p:sp>
    </p:spTree>
    <p:extLst>
      <p:ext uri="{BB962C8B-B14F-4D97-AF65-F5344CB8AC3E}">
        <p14:creationId xmlns:p14="http://schemas.microsoft.com/office/powerpoint/2010/main" val="1506899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8" descr="Phone Backgrounds — Simplistic white backgrounds ◽️◻️⬜️">
            <a:extLst>
              <a:ext uri="{FF2B5EF4-FFF2-40B4-BE49-F238E27FC236}">
                <a16:creationId xmlns:a16="http://schemas.microsoft.com/office/drawing/2014/main" id="{33E553F8-3020-9126-AB0B-3F98EEAAFFA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671232" y="-2671237"/>
            <a:ext cx="6849535" cy="12192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81E0808-F3B8-A171-1215-DAA5A4C72076}"/>
              </a:ext>
            </a:extLst>
          </p:cNvPr>
          <p:cNvSpPr/>
          <p:nvPr userDrawn="1"/>
        </p:nvSpPr>
        <p:spPr>
          <a:xfrm>
            <a:off x="0" y="-1"/>
            <a:ext cx="12192000" cy="71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BEC342-96AD-0852-2A34-99F0CB3258E0}"/>
              </a:ext>
            </a:extLst>
          </p:cNvPr>
          <p:cNvSpPr/>
          <p:nvPr userDrawn="1"/>
        </p:nvSpPr>
        <p:spPr>
          <a:xfrm>
            <a:off x="0" y="6786281"/>
            <a:ext cx="12192000" cy="71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74161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7DB5F8-FEF4-EDF4-5C50-C4C8F74B6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A1FB8-C4D3-870C-0791-5EF9B83396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71C9D-8D41-FBA5-EBB1-9EE4539923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670F1D-28F1-40EC-A00C-613D14E842B0}" type="datetimeFigureOut">
              <a:rPr lang="en-IN" smtClean="0"/>
              <a:t>05-08-2024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BF65F-C0DC-AE27-7A27-5DF7C4A8C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ABFF-1946-2227-E22C-001A26D79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376785-C26B-4EDD-8C99-F401653FB9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3325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64360"/>
            <a:ext cx="10332720" cy="81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786C9"/>
                </a:solidFill>
                <a:latin typeface="Calibri"/>
              </a:rPr>
              <a:t>WORKFORCE MANAGEMENT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743200"/>
            <a:ext cx="9966960" cy="229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C2A38"/>
                </a:solidFill>
                <a:latin typeface="Calibri"/>
              </a:rPr>
              <a:t>One Platform to Plan, Execute, and Deliver</a:t>
            </a:r>
          </a:p>
          <a:p>
            <a:pPr algn="ctr">
              <a:spcAft>
                <a:spcPts val="2000"/>
              </a:spcAft>
            </a:pPr>
            <a:r>
              <a:rPr sz="2000" b="0">
                <a:solidFill>
                  <a:srgbClr val="1C2A38"/>
                </a:solidFill>
                <a:latin typeface="Calibri"/>
              </a:rPr>
              <a:t>Across Every Team and Every Industry</a:t>
            </a: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1C2A38"/>
                </a:solidFill>
                <a:latin typeface="Calibri"/>
              </a:rPr>
              <a:t>Presented by: Harsh Singh</a:t>
            </a:r>
          </a:p>
          <a:p>
            <a:pPr algn="ctr"/>
            <a:r>
              <a:rPr sz="2000" b="0">
                <a:solidFill>
                  <a:srgbClr val="5E6E7C"/>
                </a:solidFill>
                <a:latin typeface="Calibri"/>
              </a:rPr>
              <a:t>Inventia Technology Consultants Pvt. Ltd.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70C0"/>
                </a:solidFill>
                <a:latin typeface="Calibri"/>
              </a:rPr>
              <a:t>ABOUT THE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A38"/>
                </a:solidFill>
                <a:latin typeface="Calibri"/>
              </a:rPr>
              <a:t>One connected operational ecosystem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A38"/>
                </a:solidFill>
                <a:latin typeface="Calibri"/>
              </a:rPr>
              <a:t>A unified enterprise platform that manages the complete work lifecycle — planning, workforce, execution, procurement, approvals, and real-time monitoring — inside a single connected environment.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80760" y="975360"/>
            <a:ext cx="544068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3640" y="1139952"/>
            <a:ext cx="347472" cy="347472"/>
          </a:xfrm>
          <a:prstGeom prst="rect">
            <a:avLst/>
          </a:prstGeom>
          <a:solidFill>
            <a:srgbClr val="E1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975360"/>
            <a:ext cx="463600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70C0"/>
                </a:solidFill>
                <a:latin typeface="Calibri"/>
              </a:rPr>
              <a:t>Plan complex projects  </a:t>
            </a:r>
            <a:r>
              <a:rPr sz="1400" b="0">
                <a:solidFill>
                  <a:srgbClr val="1C2A38"/>
                </a:solidFill>
                <a:latin typeface="Calibri"/>
              </a:rPr>
              <a:t>Structure and schedule programs with discipline and full WBS hierarchy.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761744"/>
            <a:ext cx="544068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926336"/>
            <a:ext cx="347472" cy="347472"/>
          </a:xfrm>
          <a:prstGeom prst="rect">
            <a:avLst/>
          </a:prstGeom>
          <a:solidFill>
            <a:srgbClr val="E1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761744"/>
            <a:ext cx="463600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70C0"/>
                </a:solidFill>
                <a:latin typeface="Calibri"/>
              </a:rPr>
              <a:t>Monitor in real time  </a:t>
            </a:r>
            <a:r>
              <a:rPr sz="1400" b="0">
                <a:solidFill>
                  <a:srgbClr val="1C2A38"/>
                </a:solidFill>
                <a:latin typeface="Calibri"/>
              </a:rPr>
              <a:t>See execution progress at every level as it happens across teams.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2548128"/>
            <a:ext cx="544068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712720"/>
            <a:ext cx="347472" cy="347472"/>
          </a:xfrm>
          <a:prstGeom prst="rect">
            <a:avLst/>
          </a:prstGeom>
          <a:solidFill>
            <a:srgbClr val="E1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548128"/>
            <a:ext cx="463600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70C0"/>
                </a:solidFill>
                <a:latin typeface="Calibri"/>
              </a:rPr>
              <a:t>Optimize the workforce  </a:t>
            </a:r>
            <a:r>
              <a:rPr sz="1400" b="0">
                <a:solidFill>
                  <a:srgbClr val="1C2A38"/>
                </a:solidFill>
                <a:latin typeface="Calibri"/>
              </a:rPr>
              <a:t>Allocate people and track productivity intelligently against baselines.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3334512"/>
            <a:ext cx="544068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3499104"/>
            <a:ext cx="347472" cy="347472"/>
          </a:xfrm>
          <a:prstGeom prst="rect">
            <a:avLst/>
          </a:prstGeom>
          <a:solidFill>
            <a:srgbClr val="E1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3334512"/>
            <a:ext cx="463600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70C0"/>
                </a:solidFill>
                <a:latin typeface="Calibri"/>
              </a:rPr>
              <a:t>Control material flow  </a:t>
            </a:r>
            <a:r>
              <a:rPr sz="1400" b="0">
                <a:solidFill>
                  <a:srgbClr val="1C2A38"/>
                </a:solidFill>
                <a:latin typeface="Calibri"/>
              </a:rPr>
              <a:t>Manage procurement and budgets across the full project lifecycle.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4120896"/>
            <a:ext cx="544068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4285488"/>
            <a:ext cx="347472" cy="347472"/>
          </a:xfrm>
          <a:prstGeom prst="rect">
            <a:avLst/>
          </a:prstGeom>
          <a:solidFill>
            <a:srgbClr val="E1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4120896"/>
            <a:ext cx="463600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70C0"/>
                </a:solidFill>
                <a:latin typeface="Calibri"/>
              </a:rPr>
              <a:t>Automate governance  </a:t>
            </a:r>
            <a:r>
              <a:rPr sz="1400" b="0">
                <a:solidFill>
                  <a:srgbClr val="1C2A38"/>
                </a:solidFill>
                <a:latin typeface="Calibri"/>
              </a:rPr>
              <a:t>Drive approvals and compliance workflows automatically.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4907280"/>
            <a:ext cx="544068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5071872"/>
            <a:ext cx="347472" cy="347472"/>
          </a:xfrm>
          <a:prstGeom prst="rect">
            <a:avLst/>
          </a:prstGeom>
          <a:solidFill>
            <a:srgbClr val="E1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4907280"/>
            <a:ext cx="463600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70C0"/>
                </a:solidFill>
                <a:latin typeface="Calibri"/>
              </a:rPr>
              <a:t>See the whole enterprise  </a:t>
            </a:r>
            <a:r>
              <a:rPr sz="1400" b="0">
                <a:solidFill>
                  <a:srgbClr val="1C2A38"/>
                </a:solidFill>
                <a:latin typeface="Calibri"/>
              </a:rPr>
              <a:t>Give management one live source of operational truth.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70C0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A38"/>
                </a:solidFill>
                <a:latin typeface="Calibri"/>
              </a:rPr>
              <a:t>Work is getting harder to manage. Visibility is the first casualty.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A38"/>
                </a:solidFill>
                <a:latin typeface="Calibri"/>
              </a:rPr>
              <a:t>Organizations across every industry struggle with the same execution problem — teams are working, projects are running, but nobody has a clear real-time picture of what is actually happening.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478024"/>
            <a:ext cx="548640" cy="548640"/>
          </a:xfrm>
          <a:prstGeom prst="rect">
            <a:avLst/>
          </a:prstGeom>
          <a:solidFill>
            <a:srgbClr val="17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423160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No real-time visibility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2631643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Work is tracked across spreadsheets, emails, and disconnected tools with no single source of truth.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24028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17720" y="2478024"/>
            <a:ext cx="548640" cy="548640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21808" y="2423160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Late discovery of delays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8" y="2631643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Project delays are discovered after they happen — not prevented before they become critical.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224028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66760" y="2478024"/>
            <a:ext cx="548640" cy="548640"/>
          </a:xfrm>
          <a:prstGeom prst="rect">
            <a:avLst/>
          </a:prstGeom>
          <a:solidFill>
            <a:srgbClr val="0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2423160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Capacity blind spots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631643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Managers have no clear view of individual workload, team utilization, or bandwidth availability.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867912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4105656"/>
            <a:ext cx="548640" cy="548640"/>
          </a:xfrm>
          <a:prstGeom prst="rect">
            <a:avLst/>
          </a:prstGeom>
          <a:solidFill>
            <a:srgbClr val="546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72768" y="4050792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Budget overruns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4259275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Cost performance is reported after the damage is done — not monitored as execution progresses.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3867912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4105656"/>
            <a:ext cx="548640" cy="548640"/>
          </a:xfrm>
          <a:prstGeom prst="rect">
            <a:avLst/>
          </a:prstGeom>
          <a:solidFill>
            <a:srgbClr val="0E8A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21808" y="4050792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Manual approval bottlenecks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21808" y="4259275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Approvals and sign-offs get stuck in email threads causing delays across every function.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3867912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66760" y="4105656"/>
            <a:ext cx="548640" cy="548640"/>
          </a:xfrm>
          <a:prstGeom prst="rect">
            <a:avLst/>
          </a:prstGeom>
          <a:solidFill>
            <a:srgbClr val="17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0848" y="4050792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Stale management reporting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4259275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Leadership makes decisions on outdated data — not on live operational intelligence.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70C0"/>
                </a:solidFill>
                <a:latin typeface="Calibri"/>
              </a:rPr>
              <a:t>WHO THIS IS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A38"/>
                </a:solidFill>
                <a:latin typeface="Calibri"/>
              </a:rPr>
              <a:t>Built for every organization where execution complexity is high.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A38"/>
                </a:solidFill>
                <a:latin typeface="Calibri"/>
              </a:rPr>
              <a:t>The platform is designed to serve any organization managing people, projects, and delivery outcomes at scale — regardless of industry.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478024"/>
            <a:ext cx="548640" cy="548640"/>
          </a:xfrm>
          <a:prstGeom prst="rect">
            <a:avLst/>
          </a:prstGeom>
          <a:solidFill>
            <a:srgbClr val="17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423160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IT &amp;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2631643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Software delivery, implementation projects, sprint tracking, and release management.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24028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17720" y="2478024"/>
            <a:ext cx="548640" cy="548640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21808" y="2423160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Professional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8" y="2631643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Client project delivery, resource utilization, billing, and engagement management.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224028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66760" y="2478024"/>
            <a:ext cx="548640" cy="548640"/>
          </a:xfrm>
          <a:prstGeom prst="rect">
            <a:avLst/>
          </a:prstGeom>
          <a:solidFill>
            <a:srgbClr val="0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2423160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Manufacturing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631643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Production planning, workforce allocation, compliance workflows, and cost control.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867912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4105656"/>
            <a:ext cx="548640" cy="548640"/>
          </a:xfrm>
          <a:prstGeom prst="rect">
            <a:avLst/>
          </a:prstGeom>
          <a:solidFill>
            <a:srgbClr val="546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72768" y="4050792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Healthcare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4259275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Operational programs, workforce scheduling, governance tracking, and compliance.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3867912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4105656"/>
            <a:ext cx="548640" cy="548640"/>
          </a:xfrm>
          <a:prstGeom prst="rect">
            <a:avLst/>
          </a:prstGeom>
          <a:solidFill>
            <a:srgbClr val="0E8A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21808" y="4050792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Infrastructure &amp; EPC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21808" y="4259275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Field execution, procurement, site-level progress monitoring, and material control.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3867912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66760" y="4105656"/>
            <a:ext cx="548640" cy="548640"/>
          </a:xfrm>
          <a:prstGeom prst="rect">
            <a:avLst/>
          </a:prstGeom>
          <a:solidFill>
            <a:srgbClr val="17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0848" y="4050792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BFSI &amp; Enterprise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4259275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Regulatory programs, transformation projects, audit workflows, and governance.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70C0"/>
                </a:solidFill>
                <a:latin typeface="Calibri"/>
              </a:rPr>
              <a:t>PROJECT PLANNING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41248"/>
            <a:ext cx="658368" cy="658368"/>
          </a:xfrm>
          <a:prstGeom prst="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82296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A38"/>
                </a:solidFill>
                <a:latin typeface="Calibri"/>
              </a:rPr>
              <a:t>Turn goals into structured, executable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WHAT THE PLATFORM ENABLES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31720"/>
            <a:ext cx="6492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End-to-end project &amp; sub-project creation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Work Breakdown Structure — Activity → Task → Sub-task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Milestone-driven execution planning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Baseline creation &amp; schedule management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Critical Path tracking to identify execution risk early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Dependency management across workstreams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List, Board, and Gantt views for every project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Project Templates for repeatable delivery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8019288" y="1775968"/>
            <a:ext cx="603504" cy="603504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1775968"/>
            <a:ext cx="258775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OUTCOME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8019288" y="2626360"/>
            <a:ext cx="3145536" cy="12700"/>
          </a:xfrm>
          <a:prstGeom prst="rect">
            <a:avLst/>
          </a:prstGeom>
          <a:solidFill>
            <a:srgbClr val="2A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9288" y="2854960"/>
            <a:ext cx="314553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Projects start with structure, execute with discipline, and deliver with predictability. Teams always know what to work on, in what order, and against what timeline.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70C0"/>
                </a:solidFill>
                <a:latin typeface="Calibri"/>
              </a:rPr>
              <a:t>PERSONAL PRODUCTIVITY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41248"/>
            <a:ext cx="658368" cy="658368"/>
          </a:xfrm>
          <a:prstGeom prst="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82296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A38"/>
                </a:solidFill>
                <a:latin typeface="Calibri"/>
              </a:rPr>
              <a:t>Every team member starts the day with complete clarity.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WHAT THE PLATFORM ENABLES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31720"/>
            <a:ext cx="6492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My Work — total assignments owned across all projects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In Progress — active items being worked on right now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Overdue — items past due date needing immediate attention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Closed Work — completed items for personal accountability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Work Calendar — scheduled tasks and deadlines in one view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Priority Distribution — workload split by High, Medium, Low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Due Today — focused view of what must be completed today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Overdue Tracker — delayed items with context and priority flags</a:t>
            </a:r>
          </a:p>
        </p:txBody>
      </p:sp>
      <p:sp>
        <p:nvSpPr>
          <p:cNvPr id="7" name="Rectangle 6"/>
          <p:cNvSpPr/>
          <p:nvPr/>
        </p:nvSpPr>
        <p:spPr>
          <a:xfrm>
            <a:off x="8019288" y="1775968"/>
            <a:ext cx="603504" cy="603504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1775968"/>
            <a:ext cx="258775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OUTCOME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8019288" y="2626360"/>
            <a:ext cx="3145536" cy="12700"/>
          </a:xfrm>
          <a:prstGeom prst="rect">
            <a:avLst/>
          </a:prstGeom>
          <a:solidFill>
            <a:srgbClr val="2A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9288" y="2854960"/>
            <a:ext cx="314553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Every person in the organization knows exactly what to work on — without a manager having to tell them. Clarity replaces confusion from the first moment of the 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70C0"/>
                </a:solidFill>
                <a:latin typeface="Calibri"/>
              </a:rPr>
              <a:t>MANAGEMENT DASHBOARD &amp; ANALYTICS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41248"/>
            <a:ext cx="658368" cy="658368"/>
          </a:xfrm>
          <a:prstGeom prst="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82296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A38"/>
                </a:solidFill>
                <a:latin typeface="Calibri"/>
              </a:rPr>
              <a:t>Act on insight, not on reports.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WHAT THE PLATFORM ENABLES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31720"/>
            <a:ext cx="6492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Total, Active, On Hold &amp; Completed project portfolio view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Team health &amp; capacity utilization in real time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SPI / CPI — Schedule and Cost Performance Index tracking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Budget vs. Actual — planned vs. spent across all projects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Burn Down / Burn Up charts — execution pace vs. plan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Project Owner Report — accountability across the portfolio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Productivity Metrics — velocity, cycle time, throughput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Operational trend analysis for strategic decision making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019288" y="1775968"/>
            <a:ext cx="603504" cy="603504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1775968"/>
            <a:ext cx="258775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OUTCOME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8019288" y="2626360"/>
            <a:ext cx="3145536" cy="12700"/>
          </a:xfrm>
          <a:prstGeom prst="rect">
            <a:avLst/>
          </a:prstGeom>
          <a:solidFill>
            <a:srgbClr val="2A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9288" y="2854960"/>
            <a:ext cx="314553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Leaders make faster, better-informed decisions because the data they need is always live and always visible — across every project, every team, and every budget 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70C0"/>
                </a:solidFill>
                <a:latin typeface="Calibri"/>
              </a:rPr>
              <a:t>AI-POWERED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A38"/>
                </a:solidFill>
                <a:latin typeface="Calibri"/>
              </a:rPr>
              <a:t>The platform thinks with you — not just for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A38"/>
                </a:solidFill>
                <a:latin typeface="Calibri"/>
              </a:rPr>
              <a:t>Built-in AI turns operational data into proactive, actionable intelligence — so teams and leaders are never caught off guard by delays, risks, or overload.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456432" cy="13393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920240"/>
            <a:ext cx="585216" cy="585216"/>
          </a:xfrm>
          <a:prstGeom prst="rect">
            <a:avLst/>
          </a:prstGeom>
          <a:solidFill>
            <a:srgbClr val="17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63476" y="1874264"/>
            <a:ext cx="23730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AI Daily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" y="2214775"/>
            <a:ext cx="2372304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Personalized work status overview delivered every morning — active items, risk flags, and capacity.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456432" cy="13393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63440" y="1920240"/>
            <a:ext cx="585216" cy="585216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2516" y="1874264"/>
            <a:ext cx="23730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AI Risk Alerts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13248" y="2214775"/>
            <a:ext cx="2372304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Real-time detection of delays, blockers, and overdue patterns across your entire portfolio.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645920"/>
            <a:ext cx="3456432" cy="13393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1920240"/>
            <a:ext cx="585216" cy="585216"/>
          </a:xfrm>
          <a:prstGeom prst="rect">
            <a:avLst/>
          </a:prstGeom>
          <a:solidFill>
            <a:srgbClr val="0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61556" y="1874264"/>
            <a:ext cx="23730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AI Standup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2288" y="2214775"/>
            <a:ext cx="2372304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Intelligent daily briefing replacing the manual standup — top focus, due today, items drifting.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456432"/>
            <a:ext cx="3456432" cy="13393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3730752"/>
            <a:ext cx="585216" cy="585216"/>
          </a:xfrm>
          <a:prstGeom prst="rect">
            <a:avLst/>
          </a:prstGeom>
          <a:solidFill>
            <a:srgbClr val="546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63476" y="3684776"/>
            <a:ext cx="23730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Proactive Escalation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4025287"/>
            <a:ext cx="2372304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Auto-flags items that breach thresholds so managers can act before delays become critical.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3456432"/>
            <a:ext cx="3456432" cy="13393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63440" y="3730752"/>
            <a:ext cx="585216" cy="585216"/>
          </a:xfrm>
          <a:prstGeom prst="rect">
            <a:avLst/>
          </a:prstGeom>
          <a:solidFill>
            <a:srgbClr val="0E8A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2516" y="3684776"/>
            <a:ext cx="23730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Capacity Intelligence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3248" y="4025287"/>
            <a:ext cx="2372304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Surfaces team overload and underutilization so resource allocation decisions are data-driven.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3456432"/>
            <a:ext cx="3456432" cy="13393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12480" y="3730752"/>
            <a:ext cx="585216" cy="585216"/>
          </a:xfrm>
          <a:prstGeom prst="rect">
            <a:avLst/>
          </a:prstGeom>
          <a:solidFill>
            <a:srgbClr val="17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1556" y="3684776"/>
            <a:ext cx="23730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Trend Forecasting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62288" y="4025287"/>
            <a:ext cx="2372304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Detects delivery pace drift early — giving teams time to course-correct before deadlines slip.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70C0"/>
                </a:solidFill>
                <a:latin typeface="Calibri"/>
              </a:rPr>
              <a:t>APPROVAL &amp; GOVERNANCE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41248"/>
            <a:ext cx="658368" cy="658368"/>
          </a:xfrm>
          <a:prstGeom prst="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82296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A38"/>
                </a:solidFill>
                <a:latin typeface="Calibri"/>
              </a:rPr>
              <a:t>Automated control, fewer follow-ups.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WHAT THE PLATFORM ENABLES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31720"/>
            <a:ext cx="6492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Timesheet submission &amp; manager validation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Task and milestone completion sign-off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Budget and cost approval workflows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Quality and compliance checkpoints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Daily progress report sign-off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Resubmission &amp; escalation handling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019288" y="1775968"/>
            <a:ext cx="603504" cy="603504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1775968"/>
            <a:ext cx="258775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OUTCOME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8019288" y="2626360"/>
            <a:ext cx="3145536" cy="12700"/>
          </a:xfrm>
          <a:prstGeom prst="rect">
            <a:avLst/>
          </a:prstGeom>
          <a:solidFill>
            <a:srgbClr val="2A54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9288" y="2854960"/>
            <a:ext cx="314553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Faster approval cycles, stronger governance, and far less dependency on manual follow-ups. Every action has an owner, a timestamp, and a complete audit trail.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70C0"/>
                </a:solidFill>
                <a:latin typeface="Calibri"/>
              </a:rPr>
              <a:t>WHY THIS IS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A38"/>
                </a:solidFill>
                <a:latin typeface="Calibri"/>
              </a:rPr>
              <a:t>Not another tool. A replacement for all your tools.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A38"/>
                </a:solidFill>
                <a:latin typeface="Calibri"/>
              </a:rPr>
              <a:t>Instead of stitching together disconnected tools, this platform brings every critical enterprise function into a single integrated ecosystem.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478024"/>
            <a:ext cx="548640" cy="548640"/>
          </a:xfrm>
          <a:prstGeom prst="rect">
            <a:avLst/>
          </a:prstGeom>
          <a:solidFill>
            <a:srgbClr val="17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423160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Single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2631643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Every person, project, task, and budget in one place — no sync, no duplication, no gaps.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24028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17720" y="2478024"/>
            <a:ext cx="548640" cy="548640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21808" y="2423160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Multi-level hierarchy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8" y="2631643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Projects → Sub-projects → Activities → Tasks → Sub-tasks with full traceability.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2240280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66760" y="2478024"/>
            <a:ext cx="548640" cy="548640"/>
          </a:xfrm>
          <a:prstGeom prst="rect">
            <a:avLst/>
          </a:prstGeom>
          <a:solidFill>
            <a:srgbClr val="0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2423160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Personal + portfolio 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631643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Individual My View and organization-wide Project View co-exist in the same platform.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867912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4105656"/>
            <a:ext cx="548640" cy="548640"/>
          </a:xfrm>
          <a:prstGeom prst="rect">
            <a:avLst/>
          </a:prstGeom>
          <a:solidFill>
            <a:srgbClr val="546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72768" y="4050792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AI intelligence built 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4259275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Not an add-on — AI is embedded into every user's daily workflow from day 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3867912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4105656"/>
            <a:ext cx="548640" cy="548640"/>
          </a:xfrm>
          <a:prstGeom prst="rect">
            <a:avLst/>
          </a:prstGeom>
          <a:solidFill>
            <a:srgbClr val="0E8A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21808" y="4050792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Earned value tracking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21808" y="4259275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SPI, CPI, Budget vs. Actual — real project management discipline, not just task lists.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3867912"/>
            <a:ext cx="34564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66760" y="4105656"/>
            <a:ext cx="548640" cy="548640"/>
          </a:xfrm>
          <a:prstGeom prst="rect">
            <a:avLst/>
          </a:prstGeom>
          <a:solidFill>
            <a:srgbClr val="17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0848" y="4050792"/>
            <a:ext cx="2443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Built to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4259275"/>
            <a:ext cx="2443744" cy="86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A38"/>
                </a:solidFill>
                <a:latin typeface="Calibri"/>
              </a:rPr>
              <a:t>Architecture designed for large, multi-team, multi-site enterprise operations.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70C0"/>
                </a:solidFill>
                <a:latin typeface="Calibri"/>
              </a:rPr>
              <a:t>EXPECTED BUSINESS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A38"/>
                </a:solidFill>
                <a:latin typeface="Calibri"/>
              </a:rPr>
              <a:t>Measurable, sustainable improvement.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528523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2029968"/>
            <a:ext cx="2011680" cy="457200"/>
          </a:xfrm>
          <a:prstGeom prst="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2996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0C0"/>
                </a:solidFill>
                <a:latin typeface="Calibri"/>
              </a:rPr>
              <a:t>OPERATIONAL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4462272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Faster execution cycles, fewer delays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Higher workforce productivity &amp; utilization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Less dependency on manual reporting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Earlier risk detection through AI alerts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Stronger governance via automated approvals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Better resource allocation and capacity planning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64208"/>
            <a:ext cx="528523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29400" y="2029968"/>
            <a:ext cx="2011680" cy="457200"/>
          </a:xfrm>
          <a:prstGeom prst="rect">
            <a:avLst/>
          </a:prstGeom>
          <a:solidFill>
            <a:srgbClr val="E1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02996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0C0"/>
                </a:solidFill>
                <a:latin typeface="Calibri"/>
              </a:rPr>
              <a:t>STRATEGIC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743200"/>
            <a:ext cx="4462272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Enterprise-wide digital transformation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One platform replacing the entire tool stack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A platform that scales with complexity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Better decisions driven by real-time data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C2A38"/>
                </a:solidFill>
                <a:latin typeface="Calibri"/>
              </a:rPr>
              <a:t>Higher efficiency, lower delivery risk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70C0"/>
                </a:solidFill>
                <a:latin typeface="Calibri"/>
              </a:rPr>
              <a:t>OUR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A38"/>
                </a:solidFill>
                <a:latin typeface="Calibri"/>
              </a:rPr>
              <a:t>The operating system for how modern organizations do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A38"/>
                </a:solidFill>
                <a:latin typeface="Calibri"/>
              </a:rPr>
              <a:t>Replacing disconnected tools and manual processes with one intelligent, connected, and scalable enterprise platform — built to transform how organizations plan, execute, and deliver work at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611880"/>
            <a:ext cx="7863840" cy="658368"/>
          </a:xfrm>
          <a:prstGeom prst="rect">
            <a:avLst/>
          </a:prstGeom>
          <a:solidFill>
            <a:srgbClr val="0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78638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125" b="1">
                <a:solidFill>
                  <a:srgbClr val="FFFFFF"/>
                </a:solidFill>
                <a:latin typeface="Calibri"/>
              </a:rPr>
              <a:t>One platform.    </a:t>
            </a:r>
            <a:r>
              <a:rPr sz="2125" b="1">
                <a:solidFill>
                  <a:srgbClr val="8FD9E4"/>
                </a:solidFill>
                <a:latin typeface="Calibri"/>
              </a:rPr>
              <a:t>One ecosystem.    </a:t>
            </a:r>
            <a:r>
              <a:rPr sz="2125" b="1">
                <a:solidFill>
                  <a:srgbClr val="FFFFFF"/>
                </a:solidFill>
                <a:latin typeface="Calibri"/>
              </a:rPr>
              <a:t>Complete operational control.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6060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1786C9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118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4677A"/>
                </a:solidFill>
                <a:latin typeface="Calibri"/>
              </a:rPr>
              <a:t>Workforce Management Platform  ·  One platform to plan, execute, and deliver — across every team and every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7492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54677A"/>
                </a:solidFill>
                <a:latin typeface="Calibri"/>
              </a:rPr>
              <a:t>WWW.</a:t>
            </a:r>
            <a:r>
              <a:rPr sz="1250" b="1">
                <a:solidFill>
                  <a:srgbClr val="1786C9"/>
                </a:solidFill>
                <a:latin typeface="Calibri"/>
              </a:rPr>
              <a:t>INVENTIA</a:t>
            </a:r>
            <a:r>
              <a:rPr sz="1250" b="1">
                <a:solidFill>
                  <a:srgbClr val="54677A"/>
                </a:solidFill>
                <a:latin typeface="Calibri"/>
              </a:rPr>
              <a:t>.IN    |    INFO@</a:t>
            </a:r>
            <a:r>
              <a:rPr sz="1250" b="1">
                <a:solidFill>
                  <a:srgbClr val="1786C9"/>
                </a:solidFill>
                <a:latin typeface="Calibri"/>
              </a:rPr>
              <a:t>INVENTIA</a:t>
            </a:r>
            <a:r>
              <a:rPr sz="1250" b="1">
                <a:solidFill>
                  <a:srgbClr val="54677A"/>
                </a:solidFill>
                <a:latin typeface="Calibri"/>
              </a:rPr>
              <a:t>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11078</TotalTime>
  <Words>63</Words>
  <Application>Microsoft Office PowerPoint</Application>
  <PresentationFormat>Widescreen</PresentationFormat>
  <Paragraphs>8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Saurabh Varshney</dc:creator>
  <cp:lastModifiedBy>Kuberji Dixit</cp:lastModifiedBy>
  <cp:revision>332</cp:revision>
  <dcterms:created xsi:type="dcterms:W3CDTF">2024-05-01T05:46:46Z</dcterms:created>
  <dcterms:modified xsi:type="dcterms:W3CDTF">2024-08-05T09:27:00Z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1550709108</vt:i4>
  </property>
  <property fmtid="{D5CDD505-2E9C-101B-9397-08002B2CF9AE}" pid="3" name="_NewReviewCycle">
    <vt:lpwstr/>
  </property>
  <property fmtid="{D5CDD505-2E9C-101B-9397-08002B2CF9AE}" pid="4" name="_EmailSubject">
    <vt:lpwstr>CSPDCL Demo Prepration</vt:lpwstr>
  </property>
  <property fmtid="{D5CDD505-2E9C-101B-9397-08002B2CF9AE}" pid="5" name="_AuthorEmail">
    <vt:lpwstr>Saurabh.V@inventia.in</vt:lpwstr>
  </property>
  <property fmtid="{D5CDD505-2E9C-101B-9397-08002B2CF9AE}" pid="6" name="_AuthorEmailDisplayName">
    <vt:lpwstr>Saurabh Varshney</vt:lpwstr>
  </property>
</Properties>
</file>