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ACB"/>
    <a:srgbClr val="EF8B1D"/>
    <a:srgbClr val="000000"/>
    <a:srgbClr val="20386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>
        <p:scale>
          <a:sx n="66" d="100"/>
          <a:sy n="66" d="100"/>
        </p:scale>
        <p:origin x="1253" y="2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9546C-4D24-422E-A01B-7F6E772296A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F279F-93F8-42A4-803E-9143DB125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50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B033E-735C-8588-FCDE-C536FEA86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09655"/>
            <a:ext cx="4641405" cy="3297555"/>
          </a:xfrm>
          <a:prstGeom prst="rect">
            <a:avLst/>
          </a:prstGeom>
        </p:spPr>
      </p:pic>
      <p:pic>
        <p:nvPicPr>
          <p:cNvPr id="5" name="Graphic 26">
            <a:extLst>
              <a:ext uri="{FF2B5EF4-FFF2-40B4-BE49-F238E27FC236}">
                <a16:creationId xmlns:a16="http://schemas.microsoft.com/office/drawing/2014/main" id="{4C7FC5CB-4550-4E7C-7ED9-45DCFC54EF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15" b="8702"/>
          <a:stretch/>
        </p:blipFill>
        <p:spPr>
          <a:xfrm>
            <a:off x="0" y="3560442"/>
            <a:ext cx="12192000" cy="32975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1A6EDA1-A4EB-40AD-4688-115062150A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4434" y="2"/>
            <a:ext cx="2357566" cy="229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0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054F27-CE62-832A-D648-094184D66E3C}"/>
              </a:ext>
            </a:extLst>
          </p:cNvPr>
          <p:cNvGrpSpPr/>
          <p:nvPr userDrawn="1"/>
        </p:nvGrpSpPr>
        <p:grpSpPr>
          <a:xfrm flipV="1">
            <a:off x="0" y="6025896"/>
            <a:ext cx="12192000" cy="832104"/>
            <a:chOff x="0" y="-2"/>
            <a:chExt cx="12192000" cy="83164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A3BE10F-2227-42E2-114B-8E339EE3CD16}"/>
                </a:ext>
              </a:extLst>
            </p:cNvPr>
            <p:cNvSpPr/>
            <p:nvPr userDrawn="1"/>
          </p:nvSpPr>
          <p:spPr>
            <a:xfrm flipV="1">
              <a:off x="0" y="-2"/>
              <a:ext cx="12192000" cy="831649"/>
            </a:xfrm>
            <a:custGeom>
              <a:avLst/>
              <a:gdLst>
                <a:gd name="connsiteX0" fmla="*/ 0 w 12192000"/>
                <a:gd name="connsiteY0" fmla="*/ 970962 h 970962"/>
                <a:gd name="connsiteX1" fmla="*/ 12192000 w 12192000"/>
                <a:gd name="connsiteY1" fmla="*/ 970962 h 970962"/>
                <a:gd name="connsiteX2" fmla="*/ 12192000 w 12192000"/>
                <a:gd name="connsiteY2" fmla="*/ 707011 h 970962"/>
                <a:gd name="connsiteX3" fmla="*/ 2983584 w 12192000"/>
                <a:gd name="connsiteY3" fmla="*/ 707011 h 970962"/>
                <a:gd name="connsiteX4" fmla="*/ 2573517 w 12192000"/>
                <a:gd name="connsiteY4" fmla="*/ 0 h 970962"/>
                <a:gd name="connsiteX5" fmla="*/ 1 w 12192000"/>
                <a:gd name="connsiteY5" fmla="*/ 0 h 970962"/>
                <a:gd name="connsiteX6" fmla="*/ 1 w 12192000"/>
                <a:gd name="connsiteY6" fmla="*/ 707011 h 970962"/>
                <a:gd name="connsiteX7" fmla="*/ 0 w 12192000"/>
                <a:gd name="connsiteY7" fmla="*/ 707011 h 97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970962">
                  <a:moveTo>
                    <a:pt x="0" y="970962"/>
                  </a:moveTo>
                  <a:lnTo>
                    <a:pt x="12192000" y="970962"/>
                  </a:lnTo>
                  <a:lnTo>
                    <a:pt x="12192000" y="707011"/>
                  </a:lnTo>
                  <a:lnTo>
                    <a:pt x="2983584" y="707011"/>
                  </a:lnTo>
                  <a:lnTo>
                    <a:pt x="2573517" y="0"/>
                  </a:lnTo>
                  <a:lnTo>
                    <a:pt x="1" y="0"/>
                  </a:lnTo>
                  <a:lnTo>
                    <a:pt x="1" y="707011"/>
                  </a:lnTo>
                  <a:lnTo>
                    <a:pt x="0" y="70701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EA79C"/>
                </a:gs>
                <a:gs pos="64000">
                  <a:srgbClr val="008AC9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157119-1A64-0113-C0D8-89605FF77782}"/>
                </a:ext>
              </a:extLst>
            </p:cNvPr>
            <p:cNvGrpSpPr/>
            <p:nvPr userDrawn="1"/>
          </p:nvGrpSpPr>
          <p:grpSpPr>
            <a:xfrm>
              <a:off x="1047" y="355200"/>
              <a:ext cx="12190953" cy="405542"/>
              <a:chOff x="2810235" y="4558270"/>
              <a:chExt cx="12190953" cy="5699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1E22DE0-243A-3758-772C-D07D5AB51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0235" y="4558270"/>
                <a:ext cx="356128" cy="569911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F8ED62-99BC-2A87-809E-D1E9F14B2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316" y="5128181"/>
                <a:ext cx="11835872" cy="0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8353514-9094-34EA-650C-1F92387B88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45683" r="7351" b="-1311"/>
          <a:stretch/>
        </p:blipFill>
        <p:spPr>
          <a:xfrm>
            <a:off x="0" y="0"/>
            <a:ext cx="12192000" cy="1600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E19A3EC-A2AE-F88D-434C-EE875D54B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688" y="6211386"/>
            <a:ext cx="1623651" cy="454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D558D-66B3-036F-D988-B07003D818F9}"/>
              </a:ext>
            </a:extLst>
          </p:cNvPr>
          <p:cNvSpPr txBox="1"/>
          <p:nvPr userDrawn="1"/>
        </p:nvSpPr>
        <p:spPr>
          <a:xfrm>
            <a:off x="7052392" y="6220516"/>
            <a:ext cx="493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spc="300" dirty="0"/>
              <a:t>WWW.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  |  INFO@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</a:t>
            </a:r>
            <a:endParaRPr lang="en-IN" sz="1400" b="1" spc="300" dirty="0"/>
          </a:p>
        </p:txBody>
      </p:sp>
    </p:spTree>
    <p:extLst>
      <p:ext uri="{BB962C8B-B14F-4D97-AF65-F5344CB8AC3E}">
        <p14:creationId xmlns:p14="http://schemas.microsoft.com/office/powerpoint/2010/main" val="150689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Phone Backgrounds — Simplistic white backgrounds ◽️◻️⬜️">
            <a:extLst>
              <a:ext uri="{FF2B5EF4-FFF2-40B4-BE49-F238E27FC236}">
                <a16:creationId xmlns:a16="http://schemas.microsoft.com/office/drawing/2014/main" id="{33E553F8-3020-9126-AB0B-3F98EEAAFF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1232" y="-2671237"/>
            <a:ext cx="6849535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E0808-F3B8-A171-1215-DAA5A4C72076}"/>
              </a:ext>
            </a:extLst>
          </p:cNvPr>
          <p:cNvSpPr/>
          <p:nvPr userDrawn="1"/>
        </p:nvSpPr>
        <p:spPr>
          <a:xfrm>
            <a:off x="0" y="-1"/>
            <a:ext cx="12192000" cy="71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EC342-96AD-0852-2A34-99F0CB3258E0}"/>
              </a:ext>
            </a:extLst>
          </p:cNvPr>
          <p:cNvSpPr/>
          <p:nvPr userDrawn="1"/>
        </p:nvSpPr>
        <p:spPr>
          <a:xfrm>
            <a:off x="0" y="6786281"/>
            <a:ext cx="12192000" cy="71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4161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DB5F8-FEF4-EDF4-5C50-C4C8F74B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A1FB8-C4D3-870C-0791-5EF9B833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1C9D-8D41-FBA5-EBB1-9EE453992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70F1D-28F1-40EC-A00C-613D14E842B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BF65F-C0DC-AE27-7A27-5DF7C4A8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ABFF-1946-2227-E22C-001A26D79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76785-C26B-4EDD-8C99-F401653FB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2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80000"/>
            <a:ext cx="811987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8ACB"/>
                </a:solidFill>
                <a:latin typeface="Calibri"/>
              </a:rPr>
              <a:t>Workforce Management Platform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One Platform to Plan, Execute, and Deliver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Across Every Team and Every Industry</a:t>
            </a:r>
          </a:p>
          <a:p>
            <a:pPr algn="l"/>
            <a:r>
              <a:rPr sz="1000" b="1">
                <a:solidFill>
                  <a:srgbClr val="CCDDEE"/>
                </a:solidFill>
                <a:latin typeface="Calibri"/>
              </a:rPr>
              <a:t>Presented by  |  Harsh Singh  ·  Inventia Technology Consultants Pvt. Ltd.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78000"/>
            <a:ext cx="112776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WWW.INVENTIA.IN  |  INFO@INVENTIA.IN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Work is getting harder to manage. Visibility is the first casualty.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Organizations across every industry struggle with the same execution problem —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teams are working, projects are running, but nobody has a clear real-time picture.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0000"/>
            <a:ext cx="5548800" cy="141729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200" y="1345000"/>
            <a:ext cx="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8AC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200" y="1660000"/>
            <a:ext cx="5418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No Real-Time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200" y="1865000"/>
            <a:ext cx="5418800" cy="80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Work is tracked across spreadsheets, emails, and disconnected tools with no single source of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6000" y="1290000"/>
            <a:ext cx="5548800" cy="141729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1000" y="1345000"/>
            <a:ext cx="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8AC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1000" y="1660000"/>
            <a:ext cx="5418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Late Discovery of Delays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000" y="1865000"/>
            <a:ext cx="5418800" cy="80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Project delays are discovered after they happen — not prevented before they become critical.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63298"/>
            <a:ext cx="5548800" cy="141729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200" y="2818298"/>
            <a:ext cx="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8AC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200" y="3133298"/>
            <a:ext cx="5418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Capacity Blind 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200" y="3338298"/>
            <a:ext cx="5418800" cy="80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Managers have no clear view of individual workload, team utilization, or bandwidth availability.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6000" y="2763298"/>
            <a:ext cx="5548800" cy="141729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1000" y="2818298"/>
            <a:ext cx="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8AC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1000" y="3133298"/>
            <a:ext cx="5418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Budget Overruns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1000" y="3338298"/>
            <a:ext cx="5418800" cy="80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Cost performance is reported after the damage is done — not monitored as execution progresses.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36596"/>
            <a:ext cx="5548800" cy="141729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200" y="4291596"/>
            <a:ext cx="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8AC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200" y="4606596"/>
            <a:ext cx="5418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Manual Approval Bottlenecks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200" y="4811596"/>
            <a:ext cx="5418800" cy="80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Approvals and sign-offs are stuck in email threads causing delays across every function.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6000" y="4236596"/>
            <a:ext cx="5548800" cy="141729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1000" y="4291596"/>
            <a:ext cx="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8AC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1000" y="4606596"/>
            <a:ext cx="5418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Stale Management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000" y="4811596"/>
            <a:ext cx="5418800" cy="80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Leadership makes decisions on outdated data — not on live operational intelligence.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The result: Execution suffers. Deadlines slip. Teams burn out. Costs 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ABOUT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Workforce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A unified enterprise productivity platform that manages the complete lifecycle of work —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planning, execution, workforce, approvals, cost tracking, and intelligence — in one connected environment.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0000"/>
            <a:ext cx="3699200" cy="225294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0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438000"/>
            <a:ext cx="35992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700000"/>
            <a:ext cx="3599200" cy="180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Structure projects from goals to tasks with full WBS, baselines, and dependency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6400" y="1290000"/>
            <a:ext cx="3699200" cy="225294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6400" y="1290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6400" y="1438000"/>
            <a:ext cx="35992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6400" y="1700000"/>
            <a:ext cx="3599200" cy="180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Allocate the right work to the right people based on capacity, priority, and skill.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5600" y="1290000"/>
            <a:ext cx="3699200" cy="225294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5600" y="1290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600" y="1438000"/>
            <a:ext cx="35992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5600" y="1700000"/>
            <a:ext cx="3599200" cy="180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Track real-time progress at every level — activity, task, and sub-task across all projects.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2948"/>
            <a:ext cx="3699200" cy="225294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2948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200" y="3720948"/>
            <a:ext cx="35992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GOVERN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200" y="3982948"/>
            <a:ext cx="3599200" cy="180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Run structured approval workflows for timesheets, submissions, and operational decisions.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6400" y="3572948"/>
            <a:ext cx="3699200" cy="225294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400" y="3572948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6400" y="3720948"/>
            <a:ext cx="35992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6400" y="3982948"/>
            <a:ext cx="3599200" cy="180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Track budget vs. actual spend and manage the full financial lifecycle of every project.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5600" y="3572948"/>
            <a:ext cx="3699200" cy="2252948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5600" y="3572948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5600" y="3720948"/>
            <a:ext cx="35992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600" y="3982948"/>
            <a:ext cx="3599200" cy="180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Give leadership live, centralized visibility into portfolio health and team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Built for every organization where execution complexity is high.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0000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0000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200" y="1438237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IT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200" y="1658237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Software delivery, implementation projects, sprint and release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6000" y="1000000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000" y="1000000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000" y="1438237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Professional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000" y="1658237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Client project delivery, resource utilization, and billing management.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56474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56474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200" y="2594711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Manufacturing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200" y="2814711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Production planning, workforce allocation, and compliance workflows.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000" y="2156474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6000" y="2156474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000" y="2594711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Healthcare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000" y="2814711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Operational programs, workforce scheduling, and governance tracking.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12948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312948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200" y="3751185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Retail &amp; FMCG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200" y="3971185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Campaign execution, store rollouts, and operational program management.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6000" y="3312948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6000" y="3312948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000" y="3751185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Infrastructure &amp; EPC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000" y="3971185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Field execution, procurement, and site-level progress monitoring.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69422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469422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200" y="4907659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BFSI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200" y="5127659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Regulatory programs, transformation projects, and audit workflows.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6000" y="4469422"/>
            <a:ext cx="5558800" cy="113647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6000" y="4469422"/>
            <a:ext cx="68000" cy="113647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000" y="4907659"/>
            <a:ext cx="5408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Any Enterprise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000" y="5127659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If you manage people, projects, and outcomes — this platform is for you.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One platform. Every team. Every industry.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PROJECT PLANNING &amp; WORK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Turn goals into structured, executable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Every successful delivery starts with a plan. The platform gives teams a disciplined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framework to convert goals into clear, trackable, multi-level work structures.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5000"/>
            <a:ext cx="5548800" cy="4340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5000"/>
            <a:ext cx="55488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311000"/>
            <a:ext cx="5448800" cy="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WHAT THE PLATFORM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200" y="1430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Create projects, sub-projects, and project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200" y="1675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Build multi-level WBS — Activity → Task → Sub-task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200" y="1920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Set baselines for schedule and cost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200" y="2165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List, Board, and Gantt views for every workstream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200" y="2410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Critical Path tracking to identify execution risk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00" y="2655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Milestone-driven planning with dependency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200" y="2900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Project Templates for repeatable delivery processes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200" y="3145000"/>
            <a:ext cx="5433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Full project lifecycle — Active, Archived, and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6000" y="1285000"/>
            <a:ext cx="5548800" cy="4340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6000" y="1285000"/>
            <a:ext cx="5548800" cy="10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000" y="1311000"/>
            <a:ext cx="5448800" cy="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000" y="1430000"/>
            <a:ext cx="5448800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000" y="1470000"/>
            <a:ext cx="5448800" cy="410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Projects start with structure, execute with discipline, and deliver with predictability.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Teams always know what to work on, in what order, and against what timeline.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Outcome:  Improved execution predictability, better resource utilization, and fewer planning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PERSONAL PRODUCTIVITY &amp; MY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Every team member starts the day with complete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The platform gives each individual a personalized workspace showing exactly what they own,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what is due, and what needs attention — without needing to ask anyone.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5000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5000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200" y="1702612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MY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200" y="1902612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Total assignments currently owned across all active projects.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6000" y="1285000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6000" y="1285000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000" y="1702612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000" y="1902612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Active items being worked on right now — with live status tracking.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70224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70224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200" y="2787836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OVERDUE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200" y="2987836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Items past their due date that require immediate attention and action.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6000" y="2370224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6000" y="2370224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000" y="2787836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CLOSED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000" y="2987836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Completed items for personal accountability and performance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55448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55448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200" y="3873060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WORK CALENDAR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200" y="4073060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Scheduled tasks and deadlines displayed in a weekly and monthly 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000" y="3455448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6000" y="3455448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000" y="3873060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PRIORITY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000" y="4073060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Personal workload distribution split by High, Medium, and Low priority.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40672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40672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200" y="4958284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DUE TODAY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200" y="5158284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Focused view of exactly what must be completed by end of the day.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6000" y="4540672"/>
            <a:ext cx="5558800" cy="1065224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6000" y="4540672"/>
            <a:ext cx="68000" cy="1065224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000" y="4958284"/>
            <a:ext cx="5413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E8ACB"/>
                </a:solidFill>
                <a:latin typeface="Calibri"/>
              </a:rPr>
              <a:t>OVERDUE TRACKER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000" y="5158284"/>
            <a:ext cx="5413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Delayed items with original due dates, project context, and priority flags.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Every person in the organization knows exactly what to work on — without a manager having to tell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MANAGEMENT 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Act on insight. Not on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Leadership gets a centralized, real-time view of the entire project portfolio —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from high-level health metrics down to team-level performance and cost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5000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5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433000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Portfolio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675000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Total, Active, On Hold, and Completed projects — portfolio status at a single glance.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6400" y="1285000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6400" y="1285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6400" y="1433000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Team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6400" y="1675000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Real-time team health and capacity utilization across every active project.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5600" y="1285000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5600" y="1285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600" y="1433000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SPI / CPI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5600" y="1675000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Schedule Performance Index and Cost Performance Index for earned value management.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31965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31965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200" y="2879965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Budget vs. 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200" y="3121965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Planned vs. spent financial comparison with variance tracking across all projects.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6400" y="2731965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400" y="2731965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6400" y="2879965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Burn Down / Burn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6400" y="3121965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Execution pace vs. planned delivery curve — visual tracking of delivery health.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5600" y="2731965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5600" y="2731965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5600" y="2879965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Productivity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600" y="3121965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Velocity, average cycle time, and throughput — team performance at a measurable level.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78930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7893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200" y="4326930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Project Owner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200" y="4568930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Performance view by project owner — accountability and progress across the portfolio.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6400" y="4178930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46400" y="417893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6400" y="4326930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Completion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6400" y="4568930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Created vs. completed trend analysis — work intake vs. delivery rate over time.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5600" y="4178930"/>
            <a:ext cx="3699200" cy="1426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35600" y="417893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5600" y="4326930"/>
            <a:ext cx="35992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Open Issues Tracker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5600" y="4568930"/>
            <a:ext cx="3599200" cy="9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Unresolved blockers and issues requiring management attention — surfaced proactively.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Leaders make faster, better decisions because the data they need is always live and always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AI-POWERED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The platform thinks with you — not just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Built-in AI capabilities turn operational data into proactive, actionable intelligence —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so teams and leaders are never caught off guard by delays, risks, or overload.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5000"/>
            <a:ext cx="3699200" cy="4340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5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415000"/>
            <a:ext cx="35992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E8ACB"/>
                </a:solidFill>
                <a:latin typeface="Calibri"/>
              </a:rPr>
              <a:t>AI DAILY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660000"/>
            <a:ext cx="35992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A personalized overview of your work status delivered automatically every morning.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00" y="1985000"/>
            <a:ext cx="35992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CCDDEE"/>
                </a:solidFill>
                <a:latin typeface="Calibri"/>
              </a:rPr>
              <a:t>Active items, items at risk, capacity utilization, and completion trends — in one summary.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200" y="2325000"/>
            <a:ext cx="3599200" cy="8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200" y="2380000"/>
            <a:ext cx="3599200" cy="3195896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200" y="2425000"/>
            <a:ext cx="3539200" cy="314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"You have 19 active items across 6 projects. 5 closed, 7 overdue, capacity at 80%."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400" y="1285000"/>
            <a:ext cx="3699200" cy="4340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6400" y="1285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6400" y="1415000"/>
            <a:ext cx="35992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E8ACB"/>
                </a:solidFill>
                <a:latin typeface="Calibri"/>
              </a:rPr>
              <a:t>AI RISK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6400" y="1660000"/>
            <a:ext cx="35992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Real-time detection of delays, blockers, and overdue patterns across your portfolio.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6400" y="1985000"/>
            <a:ext cx="35992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CCDDEE"/>
                </a:solidFill>
                <a:latin typeface="Calibri"/>
              </a:rPr>
              <a:t>Specific flags for items needing immediate intervention — before they become critical.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6400" y="2325000"/>
            <a:ext cx="3599200" cy="8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6400" y="2380000"/>
            <a:ext cx="3599200" cy="3195896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6400" y="2425000"/>
            <a:ext cx="3539200" cy="314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"7 overdue items need attention. Capacity at 80%. Completion drifting toward 3 days."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5600" y="1285000"/>
            <a:ext cx="3699200" cy="4340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5600" y="1285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5600" y="1415000"/>
            <a:ext cx="35992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E8ACB"/>
                </a:solidFill>
                <a:latin typeface="Calibri"/>
              </a:rPr>
              <a:t>AI STANDUP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5600" y="1660000"/>
            <a:ext cx="35992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An intelligent daily briefing that replaces the manual standup update for every team member.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5600" y="1985000"/>
            <a:ext cx="35992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CCDDEE"/>
                </a:solidFill>
                <a:latin typeface="Calibri"/>
              </a:rPr>
              <a:t>Top priorities, items due today, and items in progress beyond threshold — surfaced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5600" y="2325000"/>
            <a:ext cx="3599200" cy="8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5600" y="2380000"/>
            <a:ext cx="3599200" cy="3195896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5600" y="2425000"/>
            <a:ext cx="3539200" cy="314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"Top focus: 7 overdue items. Due today: 1. Close items in progress beyond 3 days."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AI removes the cognitive overhead of tracking — so teams focus on execution, not status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APPROVALS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Automated control. Fewer bottlenecks. Stronger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Every organization needs structured workflows to validate work, enforce quality,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and maintain operational compliance. The platform automates governance across every function.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5000"/>
            <a:ext cx="5548800" cy="1421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5000"/>
            <a:ext cx="68000" cy="1421965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200" y="1350000"/>
            <a:ext cx="5403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Timesheet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200" y="1585000"/>
            <a:ext cx="5403800" cy="108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Timesheet submission and manager validation — fully digital, no paper or email.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6000" y="1285000"/>
            <a:ext cx="5548800" cy="1421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6000" y="1285000"/>
            <a:ext cx="68000" cy="1421965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00" y="1350000"/>
            <a:ext cx="5403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Task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00" y="1585000"/>
            <a:ext cx="5403800" cy="108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Task and milestone completion sign-off with structured review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31965"/>
            <a:ext cx="5548800" cy="1421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31965"/>
            <a:ext cx="68000" cy="1421965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200" y="2796965"/>
            <a:ext cx="5403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Budget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200" y="3031965"/>
            <a:ext cx="5403800" cy="108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Cost and budget approval workflows with multi-level authorization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6000" y="2731965"/>
            <a:ext cx="5548800" cy="1421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6000" y="2731965"/>
            <a:ext cx="68000" cy="1421965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00" y="2796965"/>
            <a:ext cx="5403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Quality Checkpoints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00" y="3031965"/>
            <a:ext cx="5403800" cy="108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Compliance and quality checkpoints embedded directly into execution workflows.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78930"/>
            <a:ext cx="5548800" cy="1421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78930"/>
            <a:ext cx="68000" cy="1421965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200" y="4243930"/>
            <a:ext cx="5403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Escalation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200" y="4478930"/>
            <a:ext cx="5403800" cy="108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Automatic escalations when thresholds are breached — no manual follow-up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6000" y="4178930"/>
            <a:ext cx="5548800" cy="1421965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6000" y="4178930"/>
            <a:ext cx="68000" cy="1421965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00" y="4243930"/>
            <a:ext cx="540380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Resubmission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00" y="4478930"/>
            <a:ext cx="5403800" cy="108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Rejected items are auto-routed back with contextual feedback for resubmission.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15896"/>
            <a:ext cx="11277600" cy="22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200" y="5480896"/>
            <a:ext cx="2789400" cy="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No Lost Approvals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6600" y="5480896"/>
            <a:ext cx="2789400" cy="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Full Audit Trails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6000" y="5480896"/>
            <a:ext cx="2789400" cy="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Auto Escalations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5400" y="5480896"/>
            <a:ext cx="2789400" cy="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Zero Manual Follow-Ups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WHY THIS PLATFORM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Not another tool. A replacement for all your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5000"/>
            <a:ext cx="8796528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Most organizations run work across spreadsheets, project tools, HR systems, email threads,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5577"/>
                </a:solidFill>
                <a:latin typeface="Calibri"/>
              </a:rPr>
              <a:t>and standalone dashboards. None of them talk to each other. This platform changes that.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5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0000"/>
            <a:ext cx="4398264" cy="1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THIS PLATFORM REPLACES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5000"/>
            <a:ext cx="4398264" cy="191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200" y="1335000"/>
            <a:ext cx="4298264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200" y="1387000"/>
            <a:ext cx="4258264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Project management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200" y="1645000"/>
            <a:ext cx="4298264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7200" y="1697000"/>
            <a:ext cx="4258264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Task tracking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200" y="1955000"/>
            <a:ext cx="4298264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200" y="2007000"/>
            <a:ext cx="4258264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Timesheet and attendance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200" y="2265000"/>
            <a:ext cx="4298264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200" y="2317000"/>
            <a:ext cx="4258264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Approval and workflow engines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200" y="2575000"/>
            <a:ext cx="4298264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" y="2627000"/>
            <a:ext cx="4258264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Budget tracking spreadsheets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200" y="2885000"/>
            <a:ext cx="4298264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200" y="2937000"/>
            <a:ext cx="4258264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Manual status reporting 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5464" y="1110000"/>
            <a:ext cx="6699336" cy="1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WHAT MAKES IT DIFFERENT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5464" y="1285000"/>
            <a:ext cx="6699336" cy="850179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5464" y="1285000"/>
            <a:ext cx="669933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5464" y="1433000"/>
            <a:ext cx="6599336" cy="2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Single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5464" y="1660000"/>
            <a:ext cx="6599336" cy="43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Every person, project, and piece of work in one place — no sync, no duplication.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5464" y="2153179"/>
            <a:ext cx="6699336" cy="850179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5464" y="2153179"/>
            <a:ext cx="669933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5464" y="2301179"/>
            <a:ext cx="6599336" cy="2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Multi-Level Project Hierarchy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5464" y="2528179"/>
            <a:ext cx="6599336" cy="43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Projects → Sub-projects → Activities → Tasks → Sub-tasks with full traceability.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5464" y="3021358"/>
            <a:ext cx="6699336" cy="850179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35464" y="3021358"/>
            <a:ext cx="669933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5464" y="3169358"/>
            <a:ext cx="6599336" cy="2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Personal + Portfolio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5464" y="3396358"/>
            <a:ext cx="6599336" cy="43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Individual My View and org-wide Project View in the same platform.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5464" y="3889537"/>
            <a:ext cx="6699336" cy="850179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35464" y="3889537"/>
            <a:ext cx="669933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5464" y="4037537"/>
            <a:ext cx="6599336" cy="2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AI Intelligence Built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5464" y="4264537"/>
            <a:ext cx="6599336" cy="43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Not bolted on — AI is embedded into every user's daily workflow from day one.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5464" y="4757716"/>
            <a:ext cx="6699336" cy="850179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35464" y="4757716"/>
            <a:ext cx="669933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5464" y="4905716"/>
            <a:ext cx="6599336" cy="2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Earned Value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5464" y="5132716"/>
            <a:ext cx="6599336" cy="43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SPI, CPI, Budget vs. Actual — real project management discipline, not just task lists.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EXPECTED BUSINESS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000"/>
            <a:ext cx="9247632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A45"/>
                </a:solidFill>
                <a:latin typeface="Calibri"/>
              </a:rPr>
              <a:t>Measurable, sustainable improvement across every dimension of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0000"/>
            <a:ext cx="9000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10000"/>
            <a:ext cx="5558800" cy="4615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10000"/>
            <a:ext cx="55588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200" y="1036000"/>
            <a:ext cx="5458800" cy="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OPERATIONAL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00" y="1158000"/>
            <a:ext cx="5458800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200" y="120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▸  Faster project delivery with fewer delays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00" y="148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▸  Higher individual and team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200" y="176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▸  Better resource utilization and capacity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200" y="204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▸  Reduced dependency on manual status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200" y="232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▸  Earlier risk detection through AI-powered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200" y="260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▸  Stronger governance through automated workflows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000" y="1010000"/>
            <a:ext cx="5558800" cy="4615896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000" y="1010000"/>
            <a:ext cx="5558800" cy="10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6000" y="1036000"/>
            <a:ext cx="5458800" cy="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STRATEGIC OUTCOMES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6000" y="1158000"/>
            <a:ext cx="5458800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6000" y="120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CCDDEE"/>
                </a:solidFill>
                <a:latin typeface="Calibri"/>
              </a:rPr>
              <a:t>▸  One platform replacing the entire disconnected tool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6000" y="148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CCDDEE"/>
                </a:solidFill>
                <a:latin typeface="Calibri"/>
              </a:rPr>
              <a:t>▸  Real-time leadership visibility into portfolio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6000" y="176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CCDDEE"/>
                </a:solidFill>
                <a:latin typeface="Calibri"/>
              </a:rPr>
              <a:t>▸  Digital transformation of how work is planned and tracked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6000" y="204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CCDDEE"/>
                </a:solidFill>
                <a:latin typeface="Calibri"/>
              </a:rPr>
              <a:t>▸  A scalable platform that grows with organizational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6000" y="2325000"/>
            <a:ext cx="5458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CCDDEE"/>
                </a:solidFill>
                <a:latin typeface="Calibri"/>
              </a:rPr>
              <a:t>▸  Better decisions, made faster, backed by live operational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45896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200" y="5657896"/>
            <a:ext cx="11117600" cy="1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Organizations that run on this platform execute faster, govern better, and decide smarter.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900000" cy="2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0900"/>
            <a:ext cx="11277600" cy="1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OUR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0000"/>
            <a:ext cx="11277600" cy="22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60000"/>
            <a:ext cx="11277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D2A45"/>
                </a:solidFill>
                <a:latin typeface="Calibri"/>
              </a:rPr>
              <a:t>The Operating System for How Modern Organizations Do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10000"/>
            <a:ext cx="112776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335577"/>
                </a:solidFill>
                <a:latin typeface="Calibri"/>
              </a:rPr>
              <a:t>We believe every organization — regardless of size, industry, or complexity —</a:t>
            </a:r>
          </a:p>
          <a:p>
            <a:pPr algn="ctr">
              <a:spcAft>
                <a:spcPts val="500"/>
              </a:spcAft>
            </a:pPr>
            <a:r>
              <a:rPr sz="1100" b="0">
                <a:solidFill>
                  <a:srgbClr val="335577"/>
                </a:solidFill>
                <a:latin typeface="Calibri"/>
              </a:rPr>
              <a:t>deserves to run their work with discipline, visibility, and intelligence.</a:t>
            </a:r>
          </a:p>
          <a:p>
            <a:pPr algn="ctr">
              <a:spcAft>
                <a:spcPts val="500"/>
              </a:spcAft>
            </a:pPr>
            <a:r>
              <a:rPr sz="1100" b="0">
                <a:solidFill>
                  <a:srgbClr val="335577"/>
                </a:solidFill>
                <a:latin typeface="Calibri"/>
              </a:rPr>
              <a:t>Replacing disconnected tools and manual processes with one intelligent,</a:t>
            </a:r>
          </a:p>
          <a:p>
            <a:pPr algn="ctr">
              <a:spcAft>
                <a:spcPts val="500"/>
              </a:spcAft>
            </a:pPr>
            <a:r>
              <a:rPr sz="1100" b="0">
                <a:solidFill>
                  <a:srgbClr val="335577"/>
                </a:solidFill>
                <a:latin typeface="Calibri"/>
              </a:rPr>
              <a:t>connected platform built to transform how teams plan, execute, and deliver.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1950000"/>
            <a:ext cx="56388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30000"/>
            <a:ext cx="3699200" cy="9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30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200" y="2285000"/>
            <a:ext cx="36192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8ACB"/>
                </a:solidFill>
                <a:latin typeface="Calibri"/>
              </a:rPr>
              <a:t>ONE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00" y="2575000"/>
            <a:ext cx="36192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Every person, project, and piece of work in a single connected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400" y="2130000"/>
            <a:ext cx="3699200" cy="9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6400" y="2130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6400" y="2285000"/>
            <a:ext cx="36192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8ACB"/>
                </a:solidFill>
                <a:latin typeface="Calibri"/>
              </a:rPr>
              <a:t>ONE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400" y="2575000"/>
            <a:ext cx="36192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Planning, execution, workforce, finance, and AI — fully integrated.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5600" y="2130000"/>
            <a:ext cx="3699200" cy="9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5600" y="2130000"/>
            <a:ext cx="3699200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5600" y="2285000"/>
            <a:ext cx="36192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8ACB"/>
                </a:solidFill>
                <a:latin typeface="Calibri"/>
              </a:rPr>
              <a:t>COMPLETE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5600" y="2575000"/>
            <a:ext cx="36192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Real-time visibility and governance across every team and every project.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3235000"/>
            <a:ext cx="56388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40000"/>
            <a:ext cx="11277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8ACB"/>
                </a:solidFill>
                <a:latin typeface="Calibri"/>
              </a:rPr>
              <a:t>ONE PLATFORM. ONE ECOSYSTEM. COMPLETE OPERATIONAL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0000"/>
            <a:ext cx="11277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E8ACB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00000"/>
            <a:ext cx="11277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D2A45"/>
                </a:solidFill>
                <a:latin typeface="Calibri"/>
              </a:rPr>
              <a:t>Workforce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70000"/>
            <a:ext cx="112776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335577"/>
                </a:solidFill>
                <a:latin typeface="Calibri"/>
              </a:rPr>
              <a:t>Enabling smart, scalable enterprise execution — across every team and every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6400" y="3220000"/>
            <a:ext cx="3759200" cy="1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0000"/>
            <a:ext cx="11277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35577"/>
                </a:solidFill>
                <a:latin typeface="Calibri"/>
              </a:rPr>
              <a:t>WWW.INVENTIA.IN  |  INFO@INVENTIA.IN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11078</TotalTime>
  <Words>63</Words>
  <Application>Microsoft Office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Varshney</dc:creator>
  <cp:lastModifiedBy>Kuberji Dixit</cp:lastModifiedBy>
  <cp:revision>332</cp:revision>
  <dcterms:created xsi:type="dcterms:W3CDTF">2024-05-01T05:46:46Z</dcterms:created>
  <dcterms:modified xsi:type="dcterms:W3CDTF">2024-08-05T09:27:00Z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1550709108</vt:i4>
  </property>
  <property fmtid="{D5CDD505-2E9C-101B-9397-08002B2CF9AE}" pid="3" name="_NewReviewCycle">
    <vt:lpwstr/>
  </property>
  <property fmtid="{D5CDD505-2E9C-101B-9397-08002B2CF9AE}" pid="4" name="_EmailSubject">
    <vt:lpwstr>CSPDCL Demo Prepration</vt:lpwstr>
  </property>
  <property fmtid="{D5CDD505-2E9C-101B-9397-08002B2CF9AE}" pid="5" name="_AuthorEmail">
    <vt:lpwstr>Saurabh.V@inventia.in</vt:lpwstr>
  </property>
  <property fmtid="{D5CDD505-2E9C-101B-9397-08002B2CF9AE}" pid="6" name="_AuthorEmailDisplayName">
    <vt:lpwstr>Saurabh Varshney</vt:lpwstr>
  </property>
</Properties>
</file>