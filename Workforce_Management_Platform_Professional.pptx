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4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4"/>
    <p:sldId id="257" r:id="rId3"/>
    <p:sldId id="258" r:id="rId2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8ACB"/>
    <a:srgbClr val="EF8B1D"/>
    <a:srgbClr val="000000"/>
    <a:srgbClr val="203864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3741" autoAdjust="0"/>
  </p:normalViewPr>
  <p:slideViewPr>
    <p:cSldViewPr snapToGrid="0">
      <p:cViewPr>
        <p:scale>
          <a:sx n="66" d="100"/>
          <a:sy n="66" d="100"/>
        </p:scale>
        <p:origin x="1253" y="22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3" Type="http://schemas.openxmlformats.org/officeDocument/2006/relationships/slide" Target="slides/slid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F9546C-4D24-422E-A01B-7F6E772296A0}" type="datetimeFigureOut">
              <a:rPr lang="en-IN" smtClean="0"/>
              <a:t>05-08-2024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2F279F-93F8-42A4-803E-9143DB12510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215006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64B033E-735C-8588-FCDE-C536FEA861C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2109655"/>
            <a:ext cx="4641405" cy="3297555"/>
          </a:xfrm>
          <a:prstGeom prst="rect">
            <a:avLst/>
          </a:prstGeom>
        </p:spPr>
      </p:pic>
      <p:pic>
        <p:nvPicPr>
          <p:cNvPr id="5" name="Graphic 26">
            <a:extLst>
              <a:ext uri="{FF2B5EF4-FFF2-40B4-BE49-F238E27FC236}">
                <a16:creationId xmlns:a16="http://schemas.microsoft.com/office/drawing/2014/main" id="{4C7FC5CB-4550-4E7C-7ED9-45DCFC54EFD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415" b="8702"/>
          <a:stretch/>
        </p:blipFill>
        <p:spPr>
          <a:xfrm>
            <a:off x="0" y="3560442"/>
            <a:ext cx="12192000" cy="3297556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C1A6EDA1-A4EB-40AD-4688-115062150AF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834434" y="2"/>
            <a:ext cx="2357566" cy="2295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500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10000"/>
    </mc:Choice>
    <mc:Fallback xmlns="">
      <p:transition spd="slow" advClick="0" advTm="10000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92054F27-CE62-832A-D648-094184D66E3C}"/>
              </a:ext>
            </a:extLst>
          </p:cNvPr>
          <p:cNvGrpSpPr/>
          <p:nvPr userDrawn="1"/>
        </p:nvGrpSpPr>
        <p:grpSpPr>
          <a:xfrm flipV="1">
            <a:off x="0" y="6025896"/>
            <a:ext cx="12192000" cy="832104"/>
            <a:chOff x="0" y="-2"/>
            <a:chExt cx="12192000" cy="831649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4A3BE10F-2227-42E2-114B-8E339EE3CD16}"/>
                </a:ext>
              </a:extLst>
            </p:cNvPr>
            <p:cNvSpPr/>
            <p:nvPr userDrawn="1"/>
          </p:nvSpPr>
          <p:spPr>
            <a:xfrm flipV="1">
              <a:off x="0" y="-2"/>
              <a:ext cx="12192000" cy="831649"/>
            </a:xfrm>
            <a:custGeom>
              <a:avLst/>
              <a:gdLst>
                <a:gd name="connsiteX0" fmla="*/ 0 w 12192000"/>
                <a:gd name="connsiteY0" fmla="*/ 970962 h 970962"/>
                <a:gd name="connsiteX1" fmla="*/ 12192000 w 12192000"/>
                <a:gd name="connsiteY1" fmla="*/ 970962 h 970962"/>
                <a:gd name="connsiteX2" fmla="*/ 12192000 w 12192000"/>
                <a:gd name="connsiteY2" fmla="*/ 707011 h 970962"/>
                <a:gd name="connsiteX3" fmla="*/ 2983584 w 12192000"/>
                <a:gd name="connsiteY3" fmla="*/ 707011 h 970962"/>
                <a:gd name="connsiteX4" fmla="*/ 2573517 w 12192000"/>
                <a:gd name="connsiteY4" fmla="*/ 0 h 970962"/>
                <a:gd name="connsiteX5" fmla="*/ 1 w 12192000"/>
                <a:gd name="connsiteY5" fmla="*/ 0 h 970962"/>
                <a:gd name="connsiteX6" fmla="*/ 1 w 12192000"/>
                <a:gd name="connsiteY6" fmla="*/ 707011 h 970962"/>
                <a:gd name="connsiteX7" fmla="*/ 0 w 12192000"/>
                <a:gd name="connsiteY7" fmla="*/ 707011 h 970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970962">
                  <a:moveTo>
                    <a:pt x="0" y="970962"/>
                  </a:moveTo>
                  <a:lnTo>
                    <a:pt x="12192000" y="970962"/>
                  </a:lnTo>
                  <a:lnTo>
                    <a:pt x="12192000" y="707011"/>
                  </a:lnTo>
                  <a:lnTo>
                    <a:pt x="2983584" y="707011"/>
                  </a:lnTo>
                  <a:lnTo>
                    <a:pt x="2573517" y="0"/>
                  </a:lnTo>
                  <a:lnTo>
                    <a:pt x="1" y="0"/>
                  </a:lnTo>
                  <a:lnTo>
                    <a:pt x="1" y="707011"/>
                  </a:lnTo>
                  <a:lnTo>
                    <a:pt x="0" y="707011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1EA79C"/>
                </a:gs>
                <a:gs pos="64000">
                  <a:srgbClr val="008AC9"/>
                </a:gs>
              </a:gsLst>
              <a:lin ang="135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9157119-1A64-0113-C0D8-89605FF77782}"/>
                </a:ext>
              </a:extLst>
            </p:cNvPr>
            <p:cNvGrpSpPr/>
            <p:nvPr userDrawn="1"/>
          </p:nvGrpSpPr>
          <p:grpSpPr>
            <a:xfrm>
              <a:off x="1047" y="355200"/>
              <a:ext cx="12190953" cy="405542"/>
              <a:chOff x="2810235" y="4558270"/>
              <a:chExt cx="12190953" cy="569911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31E22DE0-243A-3758-772C-D07D5AB514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10235" y="4558270"/>
                <a:ext cx="356128" cy="569911"/>
              </a:xfrm>
              <a:prstGeom prst="line">
                <a:avLst/>
              </a:prstGeom>
              <a:ln>
                <a:gradFill flip="none" rotWithShape="1">
                  <a:gsLst>
                    <a:gs pos="100000">
                      <a:srgbClr val="008AC9"/>
                    </a:gs>
                    <a:gs pos="0">
                      <a:srgbClr val="1EA79C"/>
                    </a:gs>
                  </a:gsLst>
                  <a:lin ang="19200000" scaled="0"/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D9F8ED62-99BC-2A87-809E-D1E9F14B21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65316" y="5128181"/>
                <a:ext cx="11835872" cy="0"/>
              </a:xfrm>
              <a:prstGeom prst="line">
                <a:avLst/>
              </a:prstGeom>
              <a:ln>
                <a:gradFill flip="none" rotWithShape="1">
                  <a:gsLst>
                    <a:gs pos="100000">
                      <a:srgbClr val="008AC9"/>
                    </a:gs>
                    <a:gs pos="0">
                      <a:srgbClr val="1EA79C"/>
                    </a:gs>
                  </a:gsLst>
                  <a:lin ang="19200000" scaled="0"/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68353514-9094-34EA-650C-1F92387B885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51" t="45683" r="7351" b="-1311"/>
          <a:stretch/>
        </p:blipFill>
        <p:spPr>
          <a:xfrm>
            <a:off x="0" y="0"/>
            <a:ext cx="12192000" cy="16002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1E19A3EC-A2AE-F88D-434C-EE875D54B3C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8688" y="6211386"/>
            <a:ext cx="1623651" cy="45410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EDD558D-66B3-036F-D988-B07003D818F9}"/>
              </a:ext>
            </a:extLst>
          </p:cNvPr>
          <p:cNvSpPr txBox="1"/>
          <p:nvPr userDrawn="1"/>
        </p:nvSpPr>
        <p:spPr>
          <a:xfrm>
            <a:off x="7052392" y="6220516"/>
            <a:ext cx="49312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400" b="1" spc="300" dirty="0"/>
              <a:t>WWW.</a:t>
            </a:r>
            <a:r>
              <a:rPr lang="fr-FR" sz="1400" b="1" spc="300" dirty="0">
                <a:solidFill>
                  <a:srgbClr val="1E8ACB"/>
                </a:solidFill>
              </a:rPr>
              <a:t>INVENTIA</a:t>
            </a:r>
            <a:r>
              <a:rPr lang="fr-FR" sz="1400" b="1" spc="300" dirty="0"/>
              <a:t>.IN  |  INFO@</a:t>
            </a:r>
            <a:r>
              <a:rPr lang="fr-FR" sz="1400" b="1" spc="300" dirty="0">
                <a:solidFill>
                  <a:srgbClr val="1E8ACB"/>
                </a:solidFill>
              </a:rPr>
              <a:t>INVENTIA</a:t>
            </a:r>
            <a:r>
              <a:rPr lang="fr-FR" sz="1400" b="1" spc="300" dirty="0"/>
              <a:t>.IN</a:t>
            </a:r>
            <a:endParaRPr lang="en-IN" sz="1400" b="1" spc="300" dirty="0"/>
          </a:p>
        </p:txBody>
      </p:sp>
    </p:spTree>
    <p:extLst>
      <p:ext uri="{BB962C8B-B14F-4D97-AF65-F5344CB8AC3E}">
        <p14:creationId xmlns:p14="http://schemas.microsoft.com/office/powerpoint/2010/main" val="15068990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8" descr="Phone Backgrounds — Simplistic white backgrounds ◽️◻️⬜️">
            <a:extLst>
              <a:ext uri="{FF2B5EF4-FFF2-40B4-BE49-F238E27FC236}">
                <a16:creationId xmlns:a16="http://schemas.microsoft.com/office/drawing/2014/main" id="{33E553F8-3020-9126-AB0B-3F98EEAAFFA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671232" y="-2671237"/>
            <a:ext cx="6849535" cy="12192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B81E0808-F3B8-A171-1215-DAA5A4C72076}"/>
              </a:ext>
            </a:extLst>
          </p:cNvPr>
          <p:cNvSpPr/>
          <p:nvPr userDrawn="1"/>
        </p:nvSpPr>
        <p:spPr>
          <a:xfrm>
            <a:off x="0" y="-1"/>
            <a:ext cx="12192000" cy="71719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5BEC342-96AD-0852-2A34-99F0CB3258E0}"/>
              </a:ext>
            </a:extLst>
          </p:cNvPr>
          <p:cNvSpPr/>
          <p:nvPr userDrawn="1"/>
        </p:nvSpPr>
        <p:spPr>
          <a:xfrm>
            <a:off x="0" y="6786281"/>
            <a:ext cx="12192000" cy="717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974161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7DB5F8-FEF4-EDF4-5C50-C4C8F74B6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2A1FB8-C4D3-870C-0791-5EF9B83396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171C9D-8D41-FBA5-EBB1-9EE4539923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670F1D-28F1-40EC-A00C-613D14E842B0}" type="datetimeFigureOut">
              <a:rPr lang="en-IN" smtClean="0"/>
              <a:t>05-08-2024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4BF65F-C0DC-AE27-7A27-5DF7C4A8CE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FABFF-1946-2227-E22C-001A26D797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376785-C26B-4EDD-8C99-F401653FB9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633253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700000"/>
            <a:ext cx="8119872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E8ACB"/>
                </a:solidFill>
                <a:latin typeface="Calibri"/>
              </a:rPr>
              <a:t>Workforce Management Platform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Enabling Smart and Scalable Enterprise Project Execution</a:t>
            </a:r>
          </a:p>
          <a:p>
            <a:pPr algn="l">
              <a:spcAft>
                <a:spcPts val="20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for EPC Organizations</a:t>
            </a:r>
          </a:p>
          <a:p>
            <a:pPr algn="l"/>
            <a:r>
              <a:rPr sz="1000" b="1">
                <a:solidFill>
                  <a:srgbClr val="CCDDEE"/>
                </a:solidFill>
                <a:latin typeface="Calibri"/>
              </a:rPr>
              <a:t>Presented by  |  Harsh Singh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78000"/>
            <a:ext cx="11277600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WWW.INVENTIA.IN  |  INFO@INVENTIA.IN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42900"/>
            <a:ext cx="900000" cy="28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0900"/>
            <a:ext cx="11277600" cy="1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E8ACB"/>
                </a:solidFill>
                <a:latin typeface="Calibri"/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0000"/>
            <a:ext cx="902208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2A45"/>
                </a:solidFill>
                <a:latin typeface="Calibri"/>
              </a:rPr>
              <a:t>Operational Challenges in Project 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25000"/>
            <a:ext cx="8796528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335577"/>
                </a:solidFill>
                <a:latin typeface="Calibri"/>
              </a:rPr>
              <a:t>Organizations managing large-scale EPC and infrastructure projects face critical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335577"/>
                </a:solidFill>
                <a:latin typeface="Calibri"/>
              </a:rPr>
              <a:t>inefficiencies caused by fragmented systems, disconnected teams, and zero real-time visibility.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5000"/>
            <a:ext cx="900000" cy="12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90000"/>
            <a:ext cx="5548800" cy="1415298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2200" y="1345000"/>
            <a:ext cx="6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1E8ACB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2200" y="1660000"/>
            <a:ext cx="54188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No Centralized Visibility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2200" y="1865000"/>
            <a:ext cx="5418800" cy="8052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CCDDEE"/>
                </a:solidFill>
                <a:latin typeface="Calibri"/>
              </a:rPr>
              <a:t>Projects run across sites with no unified tracking or reporting system.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86000" y="1290000"/>
            <a:ext cx="5548800" cy="1415298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1000" y="1345000"/>
            <a:ext cx="6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1E8ACB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51000" y="1660000"/>
            <a:ext cx="54188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Delayed Field Reporting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1000" y="1865000"/>
            <a:ext cx="5418800" cy="8052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CCDDEE"/>
                </a:solidFill>
                <a:latin typeface="Calibri"/>
              </a:rPr>
              <a:t>Site teams rely on manual processes, causing significant data lag.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65298"/>
            <a:ext cx="5548800" cy="1415298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200" y="2820298"/>
            <a:ext cx="6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1E8ACB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2200" y="3135298"/>
            <a:ext cx="54188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Workforce Inefficiency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2200" y="3340298"/>
            <a:ext cx="5418800" cy="8052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CCDDEE"/>
                </a:solidFill>
                <a:latin typeface="Calibri"/>
              </a:rPr>
              <a:t>Resource allocation is reactive and unplanned, reducing productivity.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86000" y="2765298"/>
            <a:ext cx="5548800" cy="1415298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1000" y="2820298"/>
            <a:ext cx="6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1E8ACB"/>
                </a:solidFill>
                <a:latin typeface="Calibr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1000" y="3135298"/>
            <a:ext cx="54188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Poor Material 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1000" y="3340298"/>
            <a:ext cx="5418800" cy="8052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CCDDEE"/>
                </a:solidFill>
                <a:latin typeface="Calibri"/>
              </a:rPr>
              <a:t>Manual material tracking leads to wastage, theft, and cost overruns.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40596"/>
            <a:ext cx="5548800" cy="1415298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2200" y="4295596"/>
            <a:ext cx="6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1E8ACB"/>
                </a:solidFill>
                <a:latin typeface="Calibr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2200" y="4610596"/>
            <a:ext cx="54188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Slow Approval Workflows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200" y="4815596"/>
            <a:ext cx="5418800" cy="8052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CCDDEE"/>
                </a:solidFill>
                <a:latin typeface="Calibri"/>
              </a:rPr>
              <a:t>Email-based approvals stall critical project decisions and execution.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6000" y="4240596"/>
            <a:ext cx="5548800" cy="1415298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51000" y="4295596"/>
            <a:ext cx="6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1E8ACB"/>
                </a:solidFill>
                <a:latin typeface="Calibri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51000" y="4610596"/>
            <a:ext cx="54188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High Operational Cost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51000" y="4815596"/>
            <a:ext cx="5418800" cy="8052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CCDDEE"/>
                </a:solidFill>
                <a:latin typeface="Calibri"/>
              </a:rPr>
              <a:t>Disconnected tools increase overhead, rework, and reporting effort.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645896"/>
            <a:ext cx="11277600" cy="195000"/>
          </a:xfrm>
          <a:prstGeom prst="rect">
            <a:avLst/>
          </a:prstGeom>
          <a:solidFill>
            <a:srgbClr val="0A5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7200" y="5657896"/>
            <a:ext cx="11117600" cy="1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These challenges directly impact project timelines, cost control, and execution quality.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42900"/>
            <a:ext cx="900000" cy="28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0900"/>
            <a:ext cx="11277600" cy="1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E8ACB"/>
                </a:solidFill>
                <a:latin typeface="Calibri"/>
              </a:rPr>
              <a:t>ABOUT THE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0000"/>
            <a:ext cx="902208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2A45"/>
                </a:solidFill>
                <a:latin typeface="Calibri"/>
              </a:rPr>
              <a:t>Workforce Management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25000"/>
            <a:ext cx="8796528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335577"/>
                </a:solidFill>
                <a:latin typeface="Calibri"/>
              </a:rPr>
              <a:t>A unified enterprise digital platform designed to manage the complete lifecycle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335577"/>
                </a:solidFill>
                <a:latin typeface="Calibri"/>
              </a:rPr>
              <a:t>of project execution within one connected operational ecosystem.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5000"/>
            <a:ext cx="900000" cy="12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90000"/>
            <a:ext cx="3699200" cy="2252948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90000"/>
            <a:ext cx="3699200" cy="105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7200" y="1438000"/>
            <a:ext cx="35992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1E8ACB"/>
                </a:solidFill>
                <a:latin typeface="Calibri"/>
              </a:rPr>
              <a:t>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200" y="1700000"/>
            <a:ext cx="3599200" cy="18029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FFFFFF"/>
                </a:solidFill>
                <a:latin typeface="Calibri"/>
              </a:rPr>
              <a:t>Structure complex projects with work breakdown structure and scheduling discipline.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46400" y="1290000"/>
            <a:ext cx="3699200" cy="2252948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46400" y="1290000"/>
            <a:ext cx="3699200" cy="105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6400" y="1438000"/>
            <a:ext cx="35992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1E8ACB"/>
                </a:solidFill>
                <a:latin typeface="Calibri"/>
              </a:rPr>
              <a:t>MONITOR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6400" y="1700000"/>
            <a:ext cx="3599200" cy="18029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FFFFFF"/>
                </a:solidFill>
                <a:latin typeface="Calibri"/>
              </a:rPr>
              <a:t>Real-time visibility into field execution progress across all project sites.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35600" y="1290000"/>
            <a:ext cx="3699200" cy="2252948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35600" y="1290000"/>
            <a:ext cx="3699200" cy="105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85600" y="1438000"/>
            <a:ext cx="35992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1E8ACB"/>
                </a:solidFill>
                <a:latin typeface="Calibri"/>
              </a:rPr>
              <a:t>OPTIMIZE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85600" y="1700000"/>
            <a:ext cx="3599200" cy="18029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FFFFFF"/>
                </a:solidFill>
                <a:latin typeface="Calibri"/>
              </a:rPr>
              <a:t>Smart workforce allocation and productivity tracking against planned baselines.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572948"/>
            <a:ext cx="3699200" cy="2252948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572948"/>
            <a:ext cx="3699200" cy="105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7200" y="3720948"/>
            <a:ext cx="35992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1E8ACB"/>
                </a:solidFill>
                <a:latin typeface="Calibri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200" y="3982948"/>
            <a:ext cx="3599200" cy="18029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FFFFFF"/>
                </a:solidFill>
                <a:latin typeface="Calibri"/>
              </a:rPr>
              <a:t>End-to-end material flow and full procurement lifecycle management.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46400" y="3572948"/>
            <a:ext cx="3699200" cy="2252948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46400" y="3572948"/>
            <a:ext cx="3699200" cy="105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6400" y="3720948"/>
            <a:ext cx="35992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1E8ACB"/>
                </a:solidFill>
                <a:latin typeface="Calibri"/>
              </a:rPr>
              <a:t>AUTOMATE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6400" y="3982948"/>
            <a:ext cx="3599200" cy="18029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FFFFFF"/>
                </a:solidFill>
                <a:latin typeface="Calibri"/>
              </a:rPr>
              <a:t>Governance, approvals, and compliance workflows — fully automated.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35600" y="3572948"/>
            <a:ext cx="3699200" cy="2252948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35600" y="3572948"/>
            <a:ext cx="3699200" cy="105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85600" y="3720948"/>
            <a:ext cx="35992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1E8ACB"/>
                </a:solidFill>
                <a:latin typeface="Calibri"/>
              </a:rPr>
              <a:t>DECIDE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85600" y="3982948"/>
            <a:ext cx="3599200" cy="18029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FFFFFF"/>
                </a:solidFill>
                <a:latin typeface="Calibri"/>
              </a:rPr>
              <a:t>Centralized dashboards that convert field data into management insights.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42900"/>
            <a:ext cx="900000" cy="28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0900"/>
            <a:ext cx="11277600" cy="1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E8ACB"/>
                </a:solidFill>
                <a:latin typeface="Calibri"/>
              </a:rPr>
              <a:t>OPERATIONAL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0000"/>
            <a:ext cx="902208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2A45"/>
                </a:solidFill>
                <a:latin typeface="Calibri"/>
              </a:rPr>
              <a:t>Three Integrated Operational Ecosystems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35000"/>
            <a:ext cx="900000" cy="12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00000"/>
            <a:ext cx="3699200" cy="4625896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00000"/>
            <a:ext cx="3699200" cy="105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7200" y="1020000"/>
            <a:ext cx="3619200" cy="8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ORBIT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200" y="1148000"/>
            <a:ext cx="35992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1E8ACB"/>
                </a:solidFill>
                <a:latin typeface="Calibri"/>
              </a:rPr>
              <a:t>HR Ecosystem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200" y="1410000"/>
            <a:ext cx="35992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CCDDEE"/>
                </a:solidFill>
                <a:latin typeface="Calibri"/>
              </a:rPr>
              <a:t>Manages workforce readiness, employee lifecycle, attendance, payroll, and compliance.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7200" y="1820000"/>
            <a:ext cx="3599200" cy="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7200" y="1860000"/>
            <a:ext cx="35992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▸  Attendance &amp; Leave Management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200" y="2115000"/>
            <a:ext cx="35992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▸  Payroll Processing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200" y="2370000"/>
            <a:ext cx="35992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▸  Employee Lifecycle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200" y="2625000"/>
            <a:ext cx="35992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▸  Workforce Compliance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46400" y="1000000"/>
            <a:ext cx="3699200" cy="4625896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46400" y="1000000"/>
            <a:ext cx="3699200" cy="105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86400" y="1020000"/>
            <a:ext cx="3619200" cy="8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ORBIT 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6400" y="1148000"/>
            <a:ext cx="35992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1E8ACB"/>
                </a:solidFill>
                <a:latin typeface="Calibri"/>
              </a:rPr>
              <a:t>Productivity Ecosystem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6400" y="1410000"/>
            <a:ext cx="35992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CCDDEE"/>
                </a:solidFill>
                <a:latin typeface="Calibri"/>
              </a:rPr>
              <a:t>The operational backbone for project planning, scheduling, cost control, and procurement.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6400" y="1820000"/>
            <a:ext cx="3599200" cy="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6400" y="1860000"/>
            <a:ext cx="35992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▸  WBS &amp; Schedule Management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6400" y="2115000"/>
            <a:ext cx="35992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▸  Cost Planning &amp; 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6400" y="2370000"/>
            <a:ext cx="35992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▸  Procurement Lifecycle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6400" y="2625000"/>
            <a:ext cx="35992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▸  Document Management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35600" y="1000000"/>
            <a:ext cx="3699200" cy="4625896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35600" y="1000000"/>
            <a:ext cx="3699200" cy="105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75600" y="1020000"/>
            <a:ext cx="3619200" cy="8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ORBIT 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85600" y="1148000"/>
            <a:ext cx="35992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1E8ACB"/>
                </a:solidFill>
                <a:latin typeface="Calibri"/>
              </a:rPr>
              <a:t>Activity Ecosystem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85600" y="1410000"/>
            <a:ext cx="35992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CCDDEE"/>
                </a:solidFill>
                <a:latin typeface="Calibri"/>
              </a:rPr>
              <a:t>Tracks field execution activities, daily progress reporting, and site-level operational workflows.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85600" y="1820000"/>
            <a:ext cx="3599200" cy="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85600" y="1860000"/>
            <a:ext cx="35992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▸  Tower Schedule Tracking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85600" y="2115000"/>
            <a:ext cx="35992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▸  Foundation Matrix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85600" y="2370000"/>
            <a:ext cx="35992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▸  Daily Progress (DPR)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85600" y="2625000"/>
            <a:ext cx="35992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▸  Site Execution Workflow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645896"/>
            <a:ext cx="11277600" cy="195000"/>
          </a:xfrm>
          <a:prstGeom prst="rect">
            <a:avLst/>
          </a:prstGeom>
          <a:solidFill>
            <a:srgbClr val="0A5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7200" y="5657896"/>
            <a:ext cx="11117600" cy="1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These three ecosystems eliminate operational silos and create one integrated enterprise execution framework.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42900"/>
            <a:ext cx="900000" cy="28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0900"/>
            <a:ext cx="11277600" cy="1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E8ACB"/>
                </a:solidFill>
                <a:latin typeface="Calibri"/>
              </a:rPr>
              <a:t>PROJECT PLANNING &amp; EXECUTION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0000"/>
            <a:ext cx="902208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2A45"/>
                </a:solidFill>
                <a:latin typeface="Calibri"/>
              </a:rPr>
              <a:t>From Structured Planning to Real-Time Field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25000"/>
            <a:ext cx="8796528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335577"/>
                </a:solidFill>
                <a:latin typeface="Calibri"/>
              </a:rPr>
              <a:t>The platform converts project requirements into executable workflows and monitors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335577"/>
                </a:solidFill>
                <a:latin typeface="Calibri"/>
              </a:rPr>
              <a:t>real-time progress from field to management — without manual intervention.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5000"/>
            <a:ext cx="900000" cy="12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5000"/>
            <a:ext cx="5548800" cy="4340896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5000"/>
            <a:ext cx="5548800" cy="105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7200" y="1305000"/>
            <a:ext cx="5468800" cy="8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PHASE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200" y="1433000"/>
            <a:ext cx="5448800" cy="23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1E8ACB"/>
                </a:solidFill>
                <a:latin typeface="Calibri"/>
              </a:rPr>
              <a:t>Structured Planning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200" y="1685000"/>
            <a:ext cx="54488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CCDDEE"/>
                </a:solidFill>
                <a:latin typeface="Calibri"/>
              </a:rPr>
              <a:t>A disciplined framework to convert project requirements into manageable operational workflows.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7200" y="2085000"/>
            <a:ext cx="5448800" cy="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7200" y="2125000"/>
            <a:ext cx="54488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▸  Project creation and sub-project management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200" y="2370000"/>
            <a:ext cx="54488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▸  Work Breakdown Structure for operational clarity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200" y="2615000"/>
            <a:ext cx="54488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▸  Milestone-driven execution planning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200" y="2860000"/>
            <a:ext cx="54488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▸  Baseline creation and schedule management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200" y="3105000"/>
            <a:ext cx="54488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▸  Dependency management across workstreams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200" y="3350000"/>
            <a:ext cx="54488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▸  Cost planning and resource allocation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86000" y="1285000"/>
            <a:ext cx="5548800" cy="4340896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6000" y="1285000"/>
            <a:ext cx="5548800" cy="105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26000" y="1305000"/>
            <a:ext cx="5468800" cy="8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PHASE 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36000" y="1433000"/>
            <a:ext cx="5448800" cy="23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1E8ACB"/>
                </a:solidFill>
                <a:latin typeface="Calibri"/>
              </a:rPr>
              <a:t>Real-Time Field Monitoring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36000" y="1685000"/>
            <a:ext cx="54488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CCDDEE"/>
                </a:solidFill>
                <a:latin typeface="Calibri"/>
              </a:rPr>
              <a:t>Continuous visibility into operational progress across distributed teams, locations, and activities.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6000" y="2085000"/>
            <a:ext cx="5448800" cy="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36000" y="2125000"/>
            <a:ext cx="54488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▸  Real-time task assignment and management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36000" y="2370000"/>
            <a:ext cx="54488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▸  Daily Progress Reporting (DPR) from field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6000" y="2615000"/>
            <a:ext cx="54488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▸  Tower-level and foundation-level tracking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6000" y="2860000"/>
            <a:ext cx="54488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▸  Timesheet and workforce activity monitoring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6000" y="3105000"/>
            <a:ext cx="54488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▸  Site updates connected to central dashboards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6000" y="3350000"/>
            <a:ext cx="54488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▸  Centralized execution coordination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645896"/>
            <a:ext cx="11277600" cy="195000"/>
          </a:xfrm>
          <a:prstGeom prst="rect">
            <a:avLst/>
          </a:prstGeom>
          <a:solidFill>
            <a:srgbClr val="0A5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7200" y="5657896"/>
            <a:ext cx="11117600" cy="1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Outcome:  Improved execution predictability, reduced reporting delays, and better resource utilization.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42900"/>
            <a:ext cx="900000" cy="28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0900"/>
            <a:ext cx="11277600" cy="1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E8ACB"/>
                </a:solidFill>
                <a:latin typeface="Calibri"/>
              </a:rPr>
              <a:t>PROCUREMENT &amp; MATERIAL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0000"/>
            <a:ext cx="902208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2A45"/>
                </a:solidFill>
                <a:latin typeface="Calibri"/>
              </a:rPr>
              <a:t>End-to-End Supply Chain Visibility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25000"/>
            <a:ext cx="8796528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335577"/>
                </a:solidFill>
                <a:latin typeface="Calibri"/>
              </a:rPr>
              <a:t>Material planning and procurement management are critical dependencies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335577"/>
                </a:solidFill>
                <a:latin typeface="Calibri"/>
              </a:rPr>
              <a:t>for uninterrupted project execution and disciplined cost control.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5000"/>
            <a:ext cx="900000" cy="12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5000"/>
            <a:ext cx="3699200" cy="1650000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5000"/>
            <a:ext cx="3699200" cy="105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7200" y="1435000"/>
            <a:ext cx="600000" cy="29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E8ACB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200" y="1760000"/>
            <a:ext cx="3599200" cy="23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BOQ Planning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200" y="2015000"/>
            <a:ext cx="3599200" cy="8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CCDDEE"/>
                </a:solidFill>
                <a:latin typeface="Calibri"/>
              </a:rPr>
              <a:t>Bill of Quantity planning with integrated multi-level approval workflows for accurate quantity estimation.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46400" y="1285000"/>
            <a:ext cx="3699200" cy="1650000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46400" y="1285000"/>
            <a:ext cx="3699200" cy="105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6400" y="1435000"/>
            <a:ext cx="600000" cy="29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E8ACB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6400" y="1760000"/>
            <a:ext cx="3599200" cy="23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Vendor Management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6400" y="2015000"/>
            <a:ext cx="3599200" cy="8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CCDDEE"/>
                </a:solidFill>
                <a:latin typeface="Calibri"/>
              </a:rPr>
              <a:t>Seamless vendor onboarding, labor and material mapping, and full contract lifecycle management.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35600" y="1285000"/>
            <a:ext cx="3699200" cy="1650000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35600" y="1285000"/>
            <a:ext cx="3699200" cy="105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85600" y="1435000"/>
            <a:ext cx="600000" cy="29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E8ACB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85600" y="1760000"/>
            <a:ext cx="3599200" cy="23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Material Tracking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85600" y="2015000"/>
            <a:ext cx="3599200" cy="8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CCDDEE"/>
                </a:solidFill>
                <a:latin typeface="Calibri"/>
              </a:rPr>
              <a:t>Real-time material issue tracking, consumption monitoring, and audit-ready stock reconciliation.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45000"/>
            <a:ext cx="11277600" cy="1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E8ACB"/>
                </a:solidFill>
                <a:latin typeface="Calibri"/>
              </a:rPr>
              <a:t>KEY BUSINESS RESULTS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015000"/>
            <a:ext cx="2789400" cy="2610896"/>
          </a:xfrm>
          <a:prstGeom prst="rect">
            <a:avLst/>
          </a:prstGeom>
          <a:solidFill>
            <a:srgbClr val="0A5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7200" y="3085000"/>
            <a:ext cx="27094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Calibri"/>
              </a:rPr>
              <a:t>Reduced Material Wastage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7200" y="3350000"/>
            <a:ext cx="2709400" cy="223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CCDDEE"/>
                </a:solidFill>
                <a:latin typeface="Calibri"/>
              </a:rPr>
              <a:t>Precise tracking eliminates over-ordering and site losses.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86600" y="3015000"/>
            <a:ext cx="2789400" cy="2610896"/>
          </a:xfrm>
          <a:prstGeom prst="rect">
            <a:avLst/>
          </a:prstGeom>
          <a:solidFill>
            <a:srgbClr val="0A5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26600" y="3085000"/>
            <a:ext cx="27094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Calibri"/>
              </a:rPr>
              <a:t>Improved Vendor Coordination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26600" y="3350000"/>
            <a:ext cx="2709400" cy="223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CCDDEE"/>
                </a:solidFill>
                <a:latin typeface="Calibri"/>
              </a:rPr>
              <a:t>Centralized lifecycle reduces procurement delays.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16000" y="3015000"/>
            <a:ext cx="2789400" cy="2610896"/>
          </a:xfrm>
          <a:prstGeom prst="rect">
            <a:avLst/>
          </a:prstGeom>
          <a:solidFill>
            <a:srgbClr val="0A5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56000" y="3085000"/>
            <a:ext cx="27094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Calibri"/>
              </a:rPr>
              <a:t>Stronger Cost Control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56000" y="3350000"/>
            <a:ext cx="2709400" cy="223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CCDDEE"/>
                </a:solidFill>
                <a:latin typeface="Calibri"/>
              </a:rPr>
              <a:t>Real-time data enables proactive budget management.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45400" y="3015000"/>
            <a:ext cx="2789400" cy="2610896"/>
          </a:xfrm>
          <a:prstGeom prst="rect">
            <a:avLst/>
          </a:prstGeom>
          <a:solidFill>
            <a:srgbClr val="0A5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85400" y="3085000"/>
            <a:ext cx="27094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Calibri"/>
              </a:rPr>
              <a:t>Audit-Ready Reconciliation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85400" y="3350000"/>
            <a:ext cx="2709400" cy="223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CCDDEE"/>
                </a:solidFill>
                <a:latin typeface="Calibri"/>
              </a:rPr>
              <a:t>Every movement is logged and reconciled for compliance.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645896"/>
            <a:ext cx="11277600" cy="195000"/>
          </a:xfrm>
          <a:prstGeom prst="rect">
            <a:avLst/>
          </a:prstGeom>
          <a:solidFill>
            <a:srgbClr val="0A5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7200" y="5657896"/>
            <a:ext cx="11117600" cy="1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Outcome:  Reduced material wastage, better vendor coordination, and stronger cost control.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42900"/>
            <a:ext cx="900000" cy="28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0900"/>
            <a:ext cx="11277600" cy="1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E8ACB"/>
                </a:solidFill>
                <a:latin typeface="Calibri"/>
              </a:rPr>
              <a:t>WORKFORCE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0000"/>
            <a:ext cx="902208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2A45"/>
                </a:solidFill>
                <a:latin typeface="Calibri"/>
              </a:rPr>
              <a:t>Smart Workforce Allocation and Productivity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35000"/>
            <a:ext cx="900000" cy="12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00000"/>
            <a:ext cx="3699200" cy="4625896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00000"/>
            <a:ext cx="3699200" cy="105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7200" y="1148000"/>
            <a:ext cx="35992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1E8ACB"/>
                </a:solidFill>
                <a:latin typeface="Calibri"/>
              </a:rPr>
              <a:t>TASK ASSIGNMENT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200" y="1432000"/>
            <a:ext cx="35992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CCDDEE"/>
                </a:solidFill>
                <a:latin typeface="Calibri"/>
              </a:rPr>
              <a:t>Dynamic resource allocation based on project milestones, skill sets, and site requirements.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7200" y="1895000"/>
            <a:ext cx="3599200" cy="105000"/>
          </a:xfrm>
          <a:prstGeom prst="rect">
            <a:avLst/>
          </a:prstGeom>
          <a:solidFill>
            <a:srgbClr val="0A5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7200" y="1907000"/>
            <a:ext cx="3559200" cy="9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Calibri"/>
              </a:rPr>
              <a:t>FOCUS:  Right Person. Right Task.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7200" y="2040000"/>
            <a:ext cx="3599200" cy="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7200" y="2080000"/>
            <a:ext cx="3599200" cy="24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▸  Milestone-driven task planning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200" y="2340000"/>
            <a:ext cx="3599200" cy="24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▸  Skill-based resource allocation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200" y="2600000"/>
            <a:ext cx="3599200" cy="24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▸  Multi-site coordination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46400" y="1000000"/>
            <a:ext cx="3699200" cy="4625896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46400" y="1000000"/>
            <a:ext cx="3699200" cy="105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6400" y="1148000"/>
            <a:ext cx="35992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1E8ACB"/>
                </a:solidFill>
                <a:latin typeface="Calibri"/>
              </a:rPr>
              <a:t>PRODUCTIVITY TRACKING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6400" y="1432000"/>
            <a:ext cx="35992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CCDDEE"/>
                </a:solidFill>
                <a:latin typeface="Calibri"/>
              </a:rPr>
              <a:t>Real-time monitoring of workforce output against daily execution goals and project baselines.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6400" y="1895000"/>
            <a:ext cx="3599200" cy="105000"/>
          </a:xfrm>
          <a:prstGeom prst="rect">
            <a:avLst/>
          </a:prstGeom>
          <a:solidFill>
            <a:srgbClr val="0A5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16400" y="1907000"/>
            <a:ext cx="3559200" cy="9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Calibri"/>
              </a:rPr>
              <a:t>FOCUS:  Output vs. Baseline.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6400" y="2040000"/>
            <a:ext cx="3599200" cy="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6400" y="2080000"/>
            <a:ext cx="3599200" cy="24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▸  Daily goal vs. actual comparison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6400" y="2340000"/>
            <a:ext cx="3599200" cy="24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▸  Execution variance alerts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6400" y="2600000"/>
            <a:ext cx="3599200" cy="24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▸  Team-level productivity view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35600" y="1000000"/>
            <a:ext cx="3699200" cy="4625896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35600" y="1000000"/>
            <a:ext cx="3699200" cy="105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85600" y="1148000"/>
            <a:ext cx="35992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1E8ACB"/>
                </a:solidFill>
                <a:latin typeface="Calibri"/>
              </a:rPr>
              <a:t>ACCOUNTABILITY FRAMEWORK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85600" y="1432000"/>
            <a:ext cx="35992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CCDDEE"/>
                </a:solidFill>
                <a:latin typeface="Calibri"/>
              </a:rPr>
              <a:t>Structured performance monitoring and reporting for all site-level employees and contractors.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85600" y="1895000"/>
            <a:ext cx="3599200" cy="105000"/>
          </a:xfrm>
          <a:prstGeom prst="rect">
            <a:avLst/>
          </a:prstGeom>
          <a:solidFill>
            <a:srgbClr val="0A5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05600" y="1907000"/>
            <a:ext cx="3559200" cy="9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Calibri"/>
              </a:rPr>
              <a:t>FOCUS:  Performance Visibility.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85600" y="2040000"/>
            <a:ext cx="3599200" cy="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5600" y="2080000"/>
            <a:ext cx="3599200" cy="24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▸  Employee performance records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85600" y="2340000"/>
            <a:ext cx="3599200" cy="24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▸  Contractor accountability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85600" y="2600000"/>
            <a:ext cx="3599200" cy="24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▸  Management-level reporting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645896"/>
            <a:ext cx="11277600" cy="195000"/>
          </a:xfrm>
          <a:prstGeom prst="rect">
            <a:avLst/>
          </a:prstGeom>
          <a:solidFill>
            <a:srgbClr val="0A5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7200" y="5657896"/>
            <a:ext cx="11117600" cy="1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Outcome:  Higher workforce productivity, better resource utilization, and improved employee accountability.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42900"/>
            <a:ext cx="900000" cy="28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0900"/>
            <a:ext cx="11277600" cy="1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E8ACB"/>
                </a:solidFill>
                <a:latin typeface="Calibri"/>
              </a:rPr>
              <a:t>APPROVAL &amp; GOVERNANCE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0000"/>
            <a:ext cx="902208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2A45"/>
                </a:solidFill>
                <a:latin typeface="Calibri"/>
              </a:rPr>
              <a:t>Automated Approval Engine Across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25000"/>
            <a:ext cx="8796528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335577"/>
                </a:solidFill>
                <a:latin typeface="Calibri"/>
              </a:rPr>
              <a:t>Operational governance requires structured, automated approval workflows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335577"/>
                </a:solidFill>
                <a:latin typeface="Calibri"/>
              </a:rPr>
              <a:t>that reduce delays and enforce accountability across the organization.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5000"/>
            <a:ext cx="900000" cy="12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5000"/>
            <a:ext cx="5548800" cy="1421965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5000"/>
            <a:ext cx="68000" cy="1421965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2200" y="1350000"/>
            <a:ext cx="5403800" cy="22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1">
                <a:solidFill>
                  <a:srgbClr val="1E8ACB"/>
                </a:solidFill>
                <a:latin typeface="Calibri"/>
              </a:rPr>
              <a:t>BOQ Submissions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200" y="1585000"/>
            <a:ext cx="5403800" cy="1081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Multi-level approval with automated validation and full audit trails.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86000" y="1285000"/>
            <a:ext cx="5548800" cy="1421965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6000" y="1285000"/>
            <a:ext cx="68000" cy="1421965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00" y="1350000"/>
            <a:ext cx="5403800" cy="22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1">
                <a:solidFill>
                  <a:srgbClr val="1E8ACB"/>
                </a:solidFill>
                <a:latin typeface="Calibri"/>
              </a:rPr>
              <a:t>Timesheet Approval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1000" y="1585000"/>
            <a:ext cx="5403800" cy="1081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Digital attendance validation linked to payroll and cost tracking.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31965"/>
            <a:ext cx="5548800" cy="1421965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731965"/>
            <a:ext cx="68000" cy="1421965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2200" y="2796965"/>
            <a:ext cx="5403800" cy="22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1">
                <a:solidFill>
                  <a:srgbClr val="1E8ACB"/>
                </a:solidFill>
                <a:latin typeface="Calibri"/>
              </a:rPr>
              <a:t>Field Progress (DPR)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200" y="3031965"/>
            <a:ext cx="5403800" cy="1081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Real-time daily progress validation connected to milestone tracking.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86000" y="2731965"/>
            <a:ext cx="5548800" cy="1421965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6000" y="2731965"/>
            <a:ext cx="68000" cy="1421965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91000" y="2796965"/>
            <a:ext cx="5403800" cy="22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1">
                <a:solidFill>
                  <a:srgbClr val="1E8ACB"/>
                </a:solidFill>
                <a:latin typeface="Calibri"/>
              </a:rPr>
              <a:t>Quality Checks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00" y="3031965"/>
            <a:ext cx="5403800" cy="1081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Quality assurance checklists with integrated compliance documentation.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178930"/>
            <a:ext cx="5548800" cy="1421965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178930"/>
            <a:ext cx="68000" cy="1421965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200" y="4243930"/>
            <a:ext cx="5403800" cy="22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1">
                <a:solidFill>
                  <a:srgbClr val="1E8ACB"/>
                </a:solidFill>
                <a:latin typeface="Calibri"/>
              </a:rPr>
              <a:t>Procurement Approval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2200" y="4478930"/>
            <a:ext cx="5403800" cy="1081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Structured vendor and procurement approval with escalation workflows.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6000" y="4178930"/>
            <a:ext cx="5548800" cy="1421965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86000" y="4178930"/>
            <a:ext cx="68000" cy="1421965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91000" y="4243930"/>
            <a:ext cx="5403800" cy="22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1">
                <a:solidFill>
                  <a:srgbClr val="1E8ACB"/>
                </a:solidFill>
                <a:latin typeface="Calibri"/>
              </a:rPr>
              <a:t>Resubmission Engine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91000" y="4478930"/>
            <a:ext cx="5403800" cy="1081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Auto-routing of rejected submissions with contextual feedback loops.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415896"/>
            <a:ext cx="11277600" cy="225000"/>
          </a:xfrm>
          <a:prstGeom prst="rect">
            <a:avLst/>
          </a:prstGeom>
          <a:solidFill>
            <a:srgbClr val="0A5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7200" y="5480896"/>
            <a:ext cx="2789400" cy="1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✓  Enforced Accountability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26600" y="5480896"/>
            <a:ext cx="2789400" cy="1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✓  Audit-Ready Records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56000" y="5480896"/>
            <a:ext cx="2789400" cy="1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✓  Escalation Engines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85400" y="5480896"/>
            <a:ext cx="2789400" cy="1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✓  Zero Reporting Gaps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42900"/>
            <a:ext cx="900000" cy="28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0900"/>
            <a:ext cx="11277600" cy="1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E8ACB"/>
                </a:solidFill>
                <a:latin typeface="Calibri"/>
              </a:rPr>
              <a:t>MANAGEMENT DASHBOARD &amp;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0000"/>
            <a:ext cx="902208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2A45"/>
                </a:solidFill>
                <a:latin typeface="Calibri"/>
              </a:rPr>
              <a:t>Real-Time Management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25000"/>
            <a:ext cx="8796528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335577"/>
                </a:solidFill>
                <a:latin typeface="Calibri"/>
              </a:rPr>
              <a:t>Senior management requires centralized intelligence to make informed decisions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335577"/>
                </a:solidFill>
                <a:latin typeface="Calibri"/>
              </a:rPr>
              <a:t>on project performance, operational health, and resource utilization.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5000"/>
            <a:ext cx="900000" cy="12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5000"/>
            <a:ext cx="3699200" cy="2145448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5000"/>
            <a:ext cx="3699200" cy="105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7200" y="1433000"/>
            <a:ext cx="3599200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Unified EPC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200" y="1705000"/>
            <a:ext cx="3599200" cy="167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CCDDEE"/>
                </a:solidFill>
                <a:latin typeface="Calibri"/>
              </a:rPr>
              <a:t>Centralized view of all project activities, health metrics, and execution KPIs.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46400" y="1285000"/>
            <a:ext cx="3699200" cy="2145448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46400" y="1285000"/>
            <a:ext cx="3699200" cy="105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6400" y="1433000"/>
            <a:ext cx="3599200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Action Center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6400" y="1705000"/>
            <a:ext cx="3599200" cy="167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CCDDEE"/>
                </a:solidFill>
                <a:latin typeface="Calibri"/>
              </a:rPr>
              <a:t>Targeted management interventions triggered by live data anomalies and alerts.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35600" y="1285000"/>
            <a:ext cx="3699200" cy="2145448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35600" y="1285000"/>
            <a:ext cx="3699200" cy="105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85600" y="1433000"/>
            <a:ext cx="3599200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Trend Analysis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85600" y="1705000"/>
            <a:ext cx="3599200" cy="167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CCDDEE"/>
                </a:solidFill>
                <a:latin typeface="Calibri"/>
              </a:rPr>
              <a:t>Operational trend analytics enabling strategic long-term planning and forecasting.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455448"/>
            <a:ext cx="3699200" cy="2145448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455448"/>
            <a:ext cx="3699200" cy="105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7200" y="3603448"/>
            <a:ext cx="3599200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Resource Performance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200" y="3875448"/>
            <a:ext cx="3599200" cy="167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CCDDEE"/>
                </a:solidFill>
                <a:latin typeface="Calibri"/>
              </a:rPr>
              <a:t>Team-level and individual performance tracking against planned baselines.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46400" y="3455448"/>
            <a:ext cx="3699200" cy="2145448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46400" y="3455448"/>
            <a:ext cx="3699200" cy="105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6400" y="3603448"/>
            <a:ext cx="3599200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Progress Comparison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6400" y="3875448"/>
            <a:ext cx="3599200" cy="167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CCDDEE"/>
                </a:solidFill>
                <a:latin typeface="Calibri"/>
              </a:rPr>
              <a:t>Planned vs. actual comparison across milestones, cost, and workforce utilization.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35600" y="3455448"/>
            <a:ext cx="3699200" cy="2145448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35600" y="3455448"/>
            <a:ext cx="3699200" cy="105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85600" y="3603448"/>
            <a:ext cx="3599200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Visual Analytics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85600" y="3875448"/>
            <a:ext cx="3599200" cy="167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CCDDEE"/>
                </a:solidFill>
                <a:latin typeface="Calibri"/>
              </a:rPr>
              <a:t>Charts, heatmaps, and dashboards for rapid operational decision making.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645896"/>
            <a:ext cx="11277600" cy="195000"/>
          </a:xfrm>
          <a:prstGeom prst="rect">
            <a:avLst/>
          </a:prstGeom>
          <a:solidFill>
            <a:srgbClr val="0A5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7200" y="5657896"/>
            <a:ext cx="11117600" cy="1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DATA-DRIVEN DECISIONS  |  INSIGHTS OVER REPORTS  |  REAL-TIME MANAGEMENT VISIBILITY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42900"/>
            <a:ext cx="900000" cy="28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0900"/>
            <a:ext cx="11277600" cy="1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E8ACB"/>
                </a:solidFill>
                <a:latin typeface="Calibri"/>
              </a:rPr>
              <a:t>COMPETITIVE EDGE &amp;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0000"/>
            <a:ext cx="902208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2A45"/>
                </a:solidFill>
                <a:latin typeface="Calibri"/>
              </a:rPr>
              <a:t>One Platform. One Ecosystem. Complete Operational Control.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25000"/>
            <a:ext cx="8796528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335577"/>
                </a:solidFill>
                <a:latin typeface="Calibri"/>
              </a:rPr>
              <a:t>Unlike traditional approaches using multiple disconnected systems, this platform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335577"/>
                </a:solidFill>
                <a:latin typeface="Calibri"/>
              </a:rPr>
              <a:t>consolidates all critical enterprise functions into one intelligent digital ecosystem.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5000"/>
            <a:ext cx="900000" cy="12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10000"/>
            <a:ext cx="4398264" cy="14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E8ACB"/>
                </a:solidFill>
                <a:latin typeface="Calibri"/>
              </a:rPr>
              <a:t>CONSOLIDATED ARCHITECTURE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5000"/>
            <a:ext cx="4398264" cy="1915000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7200" y="1335000"/>
            <a:ext cx="4298264" cy="255000"/>
          </a:xfrm>
          <a:prstGeom prst="rect">
            <a:avLst/>
          </a:prstGeom>
          <a:solidFill>
            <a:srgbClr val="0A5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7200" y="1387000"/>
            <a:ext cx="4258264" cy="1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  <a:latin typeface="Calibri"/>
              </a:rPr>
              <a:t>Project Management Systems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7200" y="1645000"/>
            <a:ext cx="4298264" cy="255000"/>
          </a:xfrm>
          <a:prstGeom prst="rect">
            <a:avLst/>
          </a:prstGeom>
          <a:solidFill>
            <a:srgbClr val="0A5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7200" y="1697000"/>
            <a:ext cx="4258264" cy="1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  <a:latin typeface="Calibri"/>
              </a:rPr>
              <a:t>Enterprise ERP Platforms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7200" y="1955000"/>
            <a:ext cx="4298264" cy="255000"/>
          </a:xfrm>
          <a:prstGeom prst="rect">
            <a:avLst/>
          </a:prstGeom>
          <a:solidFill>
            <a:srgbClr val="0A5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7200" y="2007000"/>
            <a:ext cx="4258264" cy="1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  <a:latin typeface="Calibri"/>
              </a:rPr>
              <a:t>Workforce Management Tools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7200" y="2265000"/>
            <a:ext cx="4298264" cy="255000"/>
          </a:xfrm>
          <a:prstGeom prst="rect">
            <a:avLst/>
          </a:prstGeom>
          <a:solidFill>
            <a:srgbClr val="0A5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7200" y="2317000"/>
            <a:ext cx="4258264" cy="1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  <a:latin typeface="Calibri"/>
              </a:rPr>
              <a:t>Procurement &amp; Vendor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7200" y="2575000"/>
            <a:ext cx="4298264" cy="255000"/>
          </a:xfrm>
          <a:prstGeom prst="rect">
            <a:avLst/>
          </a:prstGeom>
          <a:solidFill>
            <a:srgbClr val="0A5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7200" y="2627000"/>
            <a:ext cx="4258264" cy="1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  <a:latin typeface="Calibri"/>
              </a:rPr>
              <a:t>Field Execution Monitoring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200" y="2885000"/>
            <a:ext cx="4298264" cy="255000"/>
          </a:xfrm>
          <a:prstGeom prst="rect">
            <a:avLst/>
          </a:prstGeom>
          <a:solidFill>
            <a:srgbClr val="0A5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7200" y="2937000"/>
            <a:ext cx="4258264" cy="1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  <a:latin typeface="Calibri"/>
              </a:rPr>
              <a:t>Governance &amp; Approval Engines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35464" y="1110000"/>
            <a:ext cx="6699336" cy="14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E8ACB"/>
                </a:solidFill>
                <a:latin typeface="Calibri"/>
              </a:rPr>
              <a:t>INNOVATION HIGHLIGHTS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35464" y="1285000"/>
            <a:ext cx="6699336" cy="1421965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35464" y="1285000"/>
            <a:ext cx="6699336" cy="105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85464" y="1433000"/>
            <a:ext cx="6599336" cy="23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Three-Orbit Model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85464" y="1685000"/>
            <a:ext cx="6599336" cy="971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CCDDEE"/>
                </a:solidFill>
                <a:latin typeface="Calibri"/>
              </a:rPr>
              <a:t>Unique connection between HR, Productivity, and Activity ecosystems creates one unified framework.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35464" y="2731965"/>
            <a:ext cx="6699336" cy="1421965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35464" y="2731965"/>
            <a:ext cx="6699336" cy="105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85464" y="2879965"/>
            <a:ext cx="6599336" cy="23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Real-Time Data Flow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85464" y="3131965"/>
            <a:ext cx="6599336" cy="971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CCDDEE"/>
                </a:solidFill>
                <a:latin typeface="Calibri"/>
              </a:rPr>
              <a:t>Field-to-management data flow is fully automated — no manual intervention required.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35464" y="4178930"/>
            <a:ext cx="6699336" cy="1421965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35464" y="4178930"/>
            <a:ext cx="6699336" cy="105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85464" y="4326930"/>
            <a:ext cx="6599336" cy="23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Scalable Architecture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85464" y="4578930"/>
            <a:ext cx="6599336" cy="971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CCDDEE"/>
                </a:solidFill>
                <a:latin typeface="Calibri"/>
              </a:rPr>
              <a:t>Designed for multi-site, large-scale EPC operations with enterprise-grade scalability.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42900"/>
            <a:ext cx="900000" cy="28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0900"/>
            <a:ext cx="11277600" cy="1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E8ACB"/>
                </a:solidFill>
                <a:latin typeface="Calibri"/>
              </a:rPr>
              <a:t>INDUSTRIES &amp; BUSINESS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0000"/>
            <a:ext cx="902208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0D2A45"/>
                </a:solidFill>
                <a:latin typeface="Calibri"/>
              </a:rPr>
              <a:t>Who We Serve and What We Deliver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30000"/>
            <a:ext cx="900000" cy="12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10000"/>
            <a:ext cx="4623816" cy="14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E8ACB"/>
                </a:solidFill>
                <a:latin typeface="Calibri"/>
              </a:rPr>
              <a:t>INDUSTRIES SERVED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65000"/>
            <a:ext cx="4623816" cy="270000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65000"/>
            <a:ext cx="68000" cy="270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200" y="1230000"/>
            <a:ext cx="4508816" cy="1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  <a:latin typeface="Calibri"/>
              </a:rPr>
              <a:t>EPC Companies &amp; Contractors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85000"/>
            <a:ext cx="4623816" cy="270000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485000"/>
            <a:ext cx="68000" cy="270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200" y="1550000"/>
            <a:ext cx="4508816" cy="1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  <a:latin typeface="Calibri"/>
              </a:rPr>
              <a:t>Power Transmission Projects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805000"/>
            <a:ext cx="4623816" cy="270000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1805000"/>
            <a:ext cx="68000" cy="270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200" y="1870000"/>
            <a:ext cx="4508816" cy="1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  <a:latin typeface="Calibri"/>
              </a:rPr>
              <a:t>Substation Construction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125000"/>
            <a:ext cx="4623816" cy="270000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125000"/>
            <a:ext cx="68000" cy="270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200" y="2190000"/>
            <a:ext cx="4508816" cy="1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  <a:latin typeface="Calibri"/>
              </a:rPr>
              <a:t>Renewable Energy Projects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445000"/>
            <a:ext cx="4623816" cy="270000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2445000"/>
            <a:ext cx="68000" cy="270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5200" y="2510000"/>
            <a:ext cx="4508816" cy="1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  <a:latin typeface="Calibri"/>
              </a:rPr>
              <a:t>Infrastructure Development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765000"/>
            <a:ext cx="4623816" cy="270000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2765000"/>
            <a:ext cx="68000" cy="270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5200" y="2830000"/>
            <a:ext cx="4508816" cy="1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50" b="0">
                <a:solidFill>
                  <a:srgbClr val="FFFFFF"/>
                </a:solidFill>
                <a:latin typeface="Calibri"/>
              </a:rPr>
              <a:t>Utility Companies &amp; Grid Operators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81016" y="1010000"/>
            <a:ext cx="6453784" cy="14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E8ACB"/>
                </a:solidFill>
                <a:latin typeface="Calibri"/>
              </a:rPr>
              <a:t>MEASURABLE IMPACT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81016" y="1165000"/>
            <a:ext cx="6453784" cy="12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1E8ACB"/>
                </a:solidFill>
                <a:latin typeface="Calibri"/>
              </a:rPr>
              <a:t>OPERATIONAL OUTCOMES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81016" y="1300000"/>
            <a:ext cx="6453784" cy="1350000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39016" y="1345000"/>
            <a:ext cx="6378784" cy="2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FFFFFF"/>
                </a:solidFill>
                <a:latin typeface="Calibri"/>
              </a:rPr>
              <a:t>▸  Faster project execution cycles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39016" y="1607000"/>
            <a:ext cx="6378784" cy="2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FFFFFF"/>
                </a:solidFill>
                <a:latin typeface="Calibri"/>
              </a:rPr>
              <a:t>▸  Higher workforce productivity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9016" y="1869000"/>
            <a:ext cx="6378784" cy="2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FFFFFF"/>
                </a:solidFill>
                <a:latin typeface="Calibri"/>
              </a:rPr>
              <a:t>▸  Reduced material wastage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39016" y="2131000"/>
            <a:ext cx="6378784" cy="2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FFFFFF"/>
                </a:solidFill>
                <a:latin typeface="Calibri"/>
              </a:rPr>
              <a:t>▸  Stronger governance control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39016" y="2393000"/>
            <a:ext cx="6378784" cy="2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FFFFFF"/>
                </a:solidFill>
                <a:latin typeface="Calibri"/>
              </a:rPr>
              <a:t>▸  Lower manual reporting dependency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81016" y="2730000"/>
            <a:ext cx="6453784" cy="12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1E8ACB"/>
                </a:solidFill>
                <a:latin typeface="Calibri"/>
              </a:rPr>
              <a:t>STRATEGIC OUTCOMES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81016" y="2870000"/>
            <a:ext cx="6453784" cy="1088000"/>
          </a:xfrm>
          <a:prstGeom prst="rect">
            <a:avLst/>
          </a:prstGeom>
          <a:solidFill>
            <a:srgbClr val="0A5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39016" y="2915000"/>
            <a:ext cx="6378784" cy="2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FFFFFF"/>
                </a:solidFill>
                <a:latin typeface="Calibri"/>
              </a:rPr>
              <a:t>▸  Enterprise-wide digital transformation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39016" y="3177000"/>
            <a:ext cx="6378784" cy="2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FFFFFF"/>
                </a:solidFill>
                <a:latin typeface="Calibri"/>
              </a:rPr>
              <a:t>▸  Scalable platform for organizational growth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39016" y="3439000"/>
            <a:ext cx="6378784" cy="2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FFFFFF"/>
                </a:solidFill>
                <a:latin typeface="Calibri"/>
              </a:rPr>
              <a:t>▸  Data-driven management decision making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39016" y="3701000"/>
            <a:ext cx="6378784" cy="2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FFFFFF"/>
                </a:solidFill>
                <a:latin typeface="Calibri"/>
              </a:rPr>
              <a:t>▸  Reduced project delivery risk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42900"/>
            <a:ext cx="900000" cy="28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0900"/>
            <a:ext cx="11277600" cy="1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E8ACB"/>
                </a:solidFill>
                <a:latin typeface="Calibri"/>
              </a:rPr>
              <a:t>VISION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80000"/>
            <a:ext cx="11277600" cy="22000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60000"/>
            <a:ext cx="112776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0D2A45"/>
                </a:solidFill>
                <a:latin typeface="Calibri"/>
              </a:rPr>
              <a:t>Building the Digital Operating System for Enterprise Project Execution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00000"/>
            <a:ext cx="112776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</a:pPr>
            <a:r>
              <a:rPr sz="1150" b="0">
                <a:solidFill>
                  <a:srgbClr val="335577"/>
                </a:solidFill>
                <a:latin typeface="Calibri"/>
              </a:rPr>
              <a:t>Our vision is to transform how organizations manage complex, large-scale project execution —</a:t>
            </a:r>
          </a:p>
          <a:p>
            <a:pPr algn="ctr">
              <a:spcAft>
                <a:spcPts val="500"/>
              </a:spcAft>
            </a:pPr>
            <a:r>
              <a:rPr sz="1150" b="0">
                <a:solidFill>
                  <a:srgbClr val="335577"/>
                </a:solidFill>
                <a:latin typeface="Calibri"/>
              </a:rPr>
              <a:t>replacing fragmented systems and manual processes with one intelligent, connected enterprise platform.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76600" y="1790000"/>
            <a:ext cx="5638800" cy="12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970000"/>
            <a:ext cx="3699200" cy="950000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970000"/>
            <a:ext cx="3699200" cy="105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7200" y="2125000"/>
            <a:ext cx="361920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1E8ACB"/>
                </a:solidFill>
                <a:latin typeface="Calibri"/>
              </a:rPr>
              <a:t>ONE 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7200" y="2415000"/>
            <a:ext cx="3619200" cy="4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Calibri"/>
              </a:rPr>
              <a:t>Single unified environment for all project operations.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46400" y="1970000"/>
            <a:ext cx="3699200" cy="950000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46400" y="1970000"/>
            <a:ext cx="3699200" cy="105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6400" y="2125000"/>
            <a:ext cx="361920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1E8ACB"/>
                </a:solidFill>
                <a:latin typeface="Calibri"/>
              </a:rPr>
              <a:t>ONE ECOSYSTEM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6400" y="2415000"/>
            <a:ext cx="3619200" cy="4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Calibri"/>
              </a:rPr>
              <a:t>HR, Productivity, and Activity — fully integrated.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5600" y="1970000"/>
            <a:ext cx="3699200" cy="950000"/>
          </a:xfrm>
          <a:prstGeom prst="rect">
            <a:avLst/>
          </a:prstGeom>
          <a:solidFill>
            <a:srgbClr val="0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35600" y="1970000"/>
            <a:ext cx="3699200" cy="105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75600" y="2125000"/>
            <a:ext cx="361920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1E8ACB"/>
                </a:solidFill>
                <a:latin typeface="Calibri"/>
              </a:rPr>
              <a:t>COMPLETE CONTROL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75600" y="2415000"/>
            <a:ext cx="3619200" cy="4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Calibri"/>
              </a:rPr>
              <a:t>End-to-end visibility and governance across execution.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76600" y="3050000"/>
            <a:ext cx="5638800" cy="12000"/>
          </a:xfrm>
          <a:prstGeom prst="rect">
            <a:avLst/>
          </a:prstGeom>
          <a:solidFill>
            <a:srgbClr val="1E8A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155000"/>
            <a:ext cx="1127760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1E8ACB"/>
                </a:solidFill>
                <a:latin typeface="Calibri"/>
              </a:rPr>
              <a:t>TRANSFORMING THE FUTURE OF EPC OPERATIONS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11078</TotalTime>
  <Words>63</Words>
  <Application>Microsoft Office PowerPoint</Application>
  <PresentationFormat>Widescreen</PresentationFormat>
  <Paragraphs>8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Saurabh Varshney</dc:creator>
  <cp:lastModifiedBy>Kuberji Dixit</cp:lastModifiedBy>
  <cp:revision>332</cp:revision>
  <dcterms:created xsi:type="dcterms:W3CDTF">2024-05-01T05:46:46Z</dcterms:created>
  <dcterms:modified xsi:type="dcterms:W3CDTF">2024-08-05T09:27:00Z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AdHocReviewCycleID">
    <vt:i4>1550709108</vt:i4>
  </property>
  <property fmtid="{D5CDD505-2E9C-101B-9397-08002B2CF9AE}" pid="3" name="_NewReviewCycle">
    <vt:lpwstr/>
  </property>
  <property fmtid="{D5CDD505-2E9C-101B-9397-08002B2CF9AE}" pid="4" name="_EmailSubject">
    <vt:lpwstr>CSPDCL Demo Prepration</vt:lpwstr>
  </property>
  <property fmtid="{D5CDD505-2E9C-101B-9397-08002B2CF9AE}" pid="5" name="_AuthorEmail">
    <vt:lpwstr>Saurabh.V@inventia.in</vt:lpwstr>
  </property>
  <property fmtid="{D5CDD505-2E9C-101B-9397-08002B2CF9AE}" pid="6" name="_AuthorEmailDisplayName">
    <vt:lpwstr>Saurabh Varshney</vt:lpwstr>
  </property>
</Properties>
</file>