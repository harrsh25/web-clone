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4"/>
    <p:sldId id="257" r:id="rId3"/>
    <p:sldId id="258" r:id="rId2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8ACB"/>
    <a:srgbClr val="EF8B1D"/>
    <a:srgbClr val="000000"/>
    <a:srgbClr val="203864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741" autoAdjust="0"/>
  </p:normalViewPr>
  <p:slideViewPr>
    <p:cSldViewPr snapToGrid="0">
      <p:cViewPr>
        <p:scale>
          <a:sx n="66" d="100"/>
          <a:sy n="66" d="100"/>
        </p:scale>
        <p:origin x="1253" y="2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9546C-4D24-422E-A01B-7F6E772296A0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2F279F-93F8-42A4-803E-9143DB1251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500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4B033E-735C-8588-FCDE-C536FEA861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09655"/>
            <a:ext cx="4641405" cy="3297555"/>
          </a:xfrm>
          <a:prstGeom prst="rect">
            <a:avLst/>
          </a:prstGeom>
        </p:spPr>
      </p:pic>
      <p:pic>
        <p:nvPicPr>
          <p:cNvPr id="5" name="Graphic 26">
            <a:extLst>
              <a:ext uri="{FF2B5EF4-FFF2-40B4-BE49-F238E27FC236}">
                <a16:creationId xmlns:a16="http://schemas.microsoft.com/office/drawing/2014/main" id="{4C7FC5CB-4550-4E7C-7ED9-45DCFC54EF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15" b="8702"/>
          <a:stretch/>
        </p:blipFill>
        <p:spPr>
          <a:xfrm>
            <a:off x="0" y="3560442"/>
            <a:ext cx="12192000" cy="329755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1A6EDA1-A4EB-40AD-4688-115062150A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4434" y="2"/>
            <a:ext cx="2357566" cy="229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0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0"/>
    </mc:Choice>
    <mc:Fallback xmlns="">
      <p:transition spd="slow" advClick="0" advTm="10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2054F27-CE62-832A-D648-094184D66E3C}"/>
              </a:ext>
            </a:extLst>
          </p:cNvPr>
          <p:cNvGrpSpPr/>
          <p:nvPr userDrawn="1"/>
        </p:nvGrpSpPr>
        <p:grpSpPr>
          <a:xfrm flipV="1">
            <a:off x="0" y="6025896"/>
            <a:ext cx="12192000" cy="832104"/>
            <a:chOff x="0" y="-2"/>
            <a:chExt cx="12192000" cy="83164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A3BE10F-2227-42E2-114B-8E339EE3CD16}"/>
                </a:ext>
              </a:extLst>
            </p:cNvPr>
            <p:cNvSpPr/>
            <p:nvPr userDrawn="1"/>
          </p:nvSpPr>
          <p:spPr>
            <a:xfrm flipV="1">
              <a:off x="0" y="-2"/>
              <a:ext cx="12192000" cy="831649"/>
            </a:xfrm>
            <a:custGeom>
              <a:avLst/>
              <a:gdLst>
                <a:gd name="connsiteX0" fmla="*/ 0 w 12192000"/>
                <a:gd name="connsiteY0" fmla="*/ 970962 h 970962"/>
                <a:gd name="connsiteX1" fmla="*/ 12192000 w 12192000"/>
                <a:gd name="connsiteY1" fmla="*/ 970962 h 970962"/>
                <a:gd name="connsiteX2" fmla="*/ 12192000 w 12192000"/>
                <a:gd name="connsiteY2" fmla="*/ 707011 h 970962"/>
                <a:gd name="connsiteX3" fmla="*/ 2983584 w 12192000"/>
                <a:gd name="connsiteY3" fmla="*/ 707011 h 970962"/>
                <a:gd name="connsiteX4" fmla="*/ 2573517 w 12192000"/>
                <a:gd name="connsiteY4" fmla="*/ 0 h 970962"/>
                <a:gd name="connsiteX5" fmla="*/ 1 w 12192000"/>
                <a:gd name="connsiteY5" fmla="*/ 0 h 970962"/>
                <a:gd name="connsiteX6" fmla="*/ 1 w 12192000"/>
                <a:gd name="connsiteY6" fmla="*/ 707011 h 970962"/>
                <a:gd name="connsiteX7" fmla="*/ 0 w 12192000"/>
                <a:gd name="connsiteY7" fmla="*/ 707011 h 97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970962">
                  <a:moveTo>
                    <a:pt x="0" y="970962"/>
                  </a:moveTo>
                  <a:lnTo>
                    <a:pt x="12192000" y="970962"/>
                  </a:lnTo>
                  <a:lnTo>
                    <a:pt x="12192000" y="707011"/>
                  </a:lnTo>
                  <a:lnTo>
                    <a:pt x="2983584" y="707011"/>
                  </a:lnTo>
                  <a:lnTo>
                    <a:pt x="2573517" y="0"/>
                  </a:lnTo>
                  <a:lnTo>
                    <a:pt x="1" y="0"/>
                  </a:lnTo>
                  <a:lnTo>
                    <a:pt x="1" y="707011"/>
                  </a:lnTo>
                  <a:lnTo>
                    <a:pt x="0" y="70701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1EA79C"/>
                </a:gs>
                <a:gs pos="64000">
                  <a:srgbClr val="008AC9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9157119-1A64-0113-C0D8-89605FF77782}"/>
                </a:ext>
              </a:extLst>
            </p:cNvPr>
            <p:cNvGrpSpPr/>
            <p:nvPr userDrawn="1"/>
          </p:nvGrpSpPr>
          <p:grpSpPr>
            <a:xfrm>
              <a:off x="1047" y="355200"/>
              <a:ext cx="12190953" cy="405542"/>
              <a:chOff x="2810235" y="4558270"/>
              <a:chExt cx="12190953" cy="569911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31E22DE0-243A-3758-772C-D07D5AB514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10235" y="4558270"/>
                <a:ext cx="356128" cy="569911"/>
              </a:xfrm>
              <a:prstGeom prst="line">
                <a:avLst/>
              </a:prstGeom>
              <a:ln>
                <a:gradFill flip="none" rotWithShape="1">
                  <a:gsLst>
                    <a:gs pos="100000">
                      <a:srgbClr val="008AC9"/>
                    </a:gs>
                    <a:gs pos="0">
                      <a:srgbClr val="1EA79C"/>
                    </a:gs>
                  </a:gsLst>
                  <a:lin ang="19200000" scaled="0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D9F8ED62-99BC-2A87-809E-D1E9F14B21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5316" y="5128181"/>
                <a:ext cx="11835872" cy="0"/>
              </a:xfrm>
              <a:prstGeom prst="line">
                <a:avLst/>
              </a:prstGeom>
              <a:ln>
                <a:gradFill flip="none" rotWithShape="1">
                  <a:gsLst>
                    <a:gs pos="100000">
                      <a:srgbClr val="008AC9"/>
                    </a:gs>
                    <a:gs pos="0">
                      <a:srgbClr val="1EA79C"/>
                    </a:gs>
                  </a:gsLst>
                  <a:lin ang="19200000" scaled="0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8353514-9094-34EA-650C-1F92387B88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1" t="45683" r="7351" b="-1311"/>
          <a:stretch/>
        </p:blipFill>
        <p:spPr>
          <a:xfrm>
            <a:off x="0" y="0"/>
            <a:ext cx="12192000" cy="16002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E19A3EC-A2AE-F88D-434C-EE875D54B3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688" y="6211386"/>
            <a:ext cx="1623651" cy="4541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EDD558D-66B3-036F-D988-B07003D818F9}"/>
              </a:ext>
            </a:extLst>
          </p:cNvPr>
          <p:cNvSpPr txBox="1"/>
          <p:nvPr userDrawn="1"/>
        </p:nvSpPr>
        <p:spPr>
          <a:xfrm>
            <a:off x="7052392" y="6220516"/>
            <a:ext cx="4931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spc="300" dirty="0"/>
              <a:t>WWW.</a:t>
            </a:r>
            <a:r>
              <a:rPr lang="fr-FR" sz="1400" b="1" spc="300" dirty="0">
                <a:solidFill>
                  <a:srgbClr val="1E8ACB"/>
                </a:solidFill>
              </a:rPr>
              <a:t>INVENTIA</a:t>
            </a:r>
            <a:r>
              <a:rPr lang="fr-FR" sz="1400" b="1" spc="300" dirty="0"/>
              <a:t>.IN  |  INFO@</a:t>
            </a:r>
            <a:r>
              <a:rPr lang="fr-FR" sz="1400" b="1" spc="300" dirty="0">
                <a:solidFill>
                  <a:srgbClr val="1E8ACB"/>
                </a:solidFill>
              </a:rPr>
              <a:t>INVENTIA</a:t>
            </a:r>
            <a:r>
              <a:rPr lang="fr-FR" sz="1400" b="1" spc="300" dirty="0"/>
              <a:t>.IN</a:t>
            </a:r>
            <a:endParaRPr lang="en-IN" sz="1400" b="1" spc="300" dirty="0"/>
          </a:p>
        </p:txBody>
      </p:sp>
    </p:spTree>
    <p:extLst>
      <p:ext uri="{BB962C8B-B14F-4D97-AF65-F5344CB8AC3E}">
        <p14:creationId xmlns:p14="http://schemas.microsoft.com/office/powerpoint/2010/main" val="150689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 descr="Phone Backgrounds — Simplistic white backgrounds ◽️◻️⬜️">
            <a:extLst>
              <a:ext uri="{FF2B5EF4-FFF2-40B4-BE49-F238E27FC236}">
                <a16:creationId xmlns:a16="http://schemas.microsoft.com/office/drawing/2014/main" id="{33E553F8-3020-9126-AB0B-3F98EEAAFFA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71232" y="-2671237"/>
            <a:ext cx="6849535" cy="1219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1E0808-F3B8-A171-1215-DAA5A4C72076}"/>
              </a:ext>
            </a:extLst>
          </p:cNvPr>
          <p:cNvSpPr/>
          <p:nvPr userDrawn="1"/>
        </p:nvSpPr>
        <p:spPr>
          <a:xfrm>
            <a:off x="0" y="-1"/>
            <a:ext cx="12192000" cy="71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BEC342-96AD-0852-2A34-99F0CB3258E0}"/>
              </a:ext>
            </a:extLst>
          </p:cNvPr>
          <p:cNvSpPr/>
          <p:nvPr userDrawn="1"/>
        </p:nvSpPr>
        <p:spPr>
          <a:xfrm>
            <a:off x="0" y="6786281"/>
            <a:ext cx="12192000" cy="71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74161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7DB5F8-FEF4-EDF4-5C50-C4C8F74B6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A1FB8-C4D3-870C-0791-5EF9B8339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71C9D-8D41-FBA5-EBB1-9EE453992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70F1D-28F1-40EC-A00C-613D14E842B0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BF65F-C0DC-AE27-7A27-5DF7C4A8C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FABFF-1946-2227-E22C-001A26D79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76785-C26B-4EDD-8C99-F401653FB9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325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700000"/>
            <a:ext cx="8119872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8ACB"/>
                </a:solidFill>
                <a:latin typeface="Calibri"/>
              </a:rPr>
              <a:t>Workforce Management Platform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Enabling Smart and Scalable Enterprise Project Execution</a:t>
            </a:r>
          </a:p>
          <a:p>
            <a:pPr algn="l">
              <a:spcAft>
                <a:spcPts val="20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for EPC Organizations</a:t>
            </a:r>
          </a:p>
          <a:p>
            <a:pPr algn="l"/>
            <a:r>
              <a:rPr sz="1000" b="1">
                <a:solidFill>
                  <a:srgbClr val="CCDDEE"/>
                </a:solidFill>
                <a:latin typeface="Calibri"/>
              </a:rPr>
              <a:t>Presented by  |  Harsh Singh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78000"/>
            <a:ext cx="112776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WWW.INVENTIA.IN  |  INFO@INVENTIA.IN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1000000" cy="3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900"/>
            <a:ext cx="11277600" cy="1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000"/>
            <a:ext cx="8119872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Operational Challenges in Project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000"/>
            <a:ext cx="7894319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CDDEE"/>
                </a:solidFill>
                <a:latin typeface="Calibri"/>
              </a:rPr>
              <a:t>Organizations managing large-scale EPC and infrastructure projects face critical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CCDDEE"/>
                </a:solidFill>
                <a:latin typeface="Calibri"/>
              </a:rPr>
              <a:t>inefficiencies caused by fragmented systems, disconnected teams, and zero real-time visibility.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50000"/>
            <a:ext cx="900000" cy="14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60000"/>
            <a:ext cx="5558800" cy="66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7200" y="1410000"/>
            <a:ext cx="280000" cy="2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8AC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200" y="1645000"/>
            <a:ext cx="5418800" cy="2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No Centralized 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200" y="1822000"/>
            <a:ext cx="5418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CCDDEE"/>
                </a:solidFill>
                <a:latin typeface="Calibri"/>
              </a:rPr>
              <a:t>Projects run across sites with no unified tracking or reporting system.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6000" y="1360000"/>
            <a:ext cx="5558800" cy="66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6000" y="1410000"/>
            <a:ext cx="280000" cy="2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8ACB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6000" y="1645000"/>
            <a:ext cx="5418800" cy="2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Delayed Field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6000" y="1822000"/>
            <a:ext cx="5418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CCDDEE"/>
                </a:solidFill>
                <a:latin typeface="Calibri"/>
              </a:rPr>
              <a:t>Site teams rely on manual processes, causing significant data lag.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60000"/>
            <a:ext cx="5558800" cy="66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200" y="2110000"/>
            <a:ext cx="280000" cy="2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8ACB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200" y="2345000"/>
            <a:ext cx="5418800" cy="2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Workforce Inefficiency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200" y="2522000"/>
            <a:ext cx="5418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CCDDEE"/>
                </a:solidFill>
                <a:latin typeface="Calibri"/>
              </a:rPr>
              <a:t>Resource allocation is reactive and unplanned, reducing productivity.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6000" y="2060000"/>
            <a:ext cx="5558800" cy="66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6000" y="2110000"/>
            <a:ext cx="280000" cy="2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8ACB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6000" y="2345000"/>
            <a:ext cx="5418800" cy="2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Poor Material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6000" y="2522000"/>
            <a:ext cx="5418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CCDDEE"/>
                </a:solidFill>
                <a:latin typeface="Calibri"/>
              </a:rPr>
              <a:t>Manual material tracking leads to wastage, theft, and cost overruns.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60000"/>
            <a:ext cx="5558800" cy="66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7200" y="2810000"/>
            <a:ext cx="280000" cy="2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8ACB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200" y="3045000"/>
            <a:ext cx="5418800" cy="2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Slow Approval Workflows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200" y="3222000"/>
            <a:ext cx="5418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CCDDEE"/>
                </a:solidFill>
                <a:latin typeface="Calibri"/>
              </a:rPr>
              <a:t>Email-based approvals stall critical project decisions and execution.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6000" y="2760000"/>
            <a:ext cx="5558800" cy="66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6000" y="2810000"/>
            <a:ext cx="280000" cy="2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8ACB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6000" y="3045000"/>
            <a:ext cx="5418800" cy="2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High Operational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6000" y="3222000"/>
            <a:ext cx="54188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CCDDEE"/>
                </a:solidFill>
                <a:latin typeface="Calibri"/>
              </a:rPr>
              <a:t>Disconnected tools increase overhead, rework, and reporting effort.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528000"/>
            <a:ext cx="11277600" cy="19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7200" y="6538000"/>
            <a:ext cx="11117600" cy="1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These challenges directly impact project timelines, cost control, and execution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1000000" cy="3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900"/>
            <a:ext cx="11277600" cy="1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ABOUT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000"/>
            <a:ext cx="8119872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Workforce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000"/>
            <a:ext cx="7894319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CDDEE"/>
                </a:solidFill>
                <a:latin typeface="Calibri"/>
              </a:rPr>
              <a:t>A unified enterprise digital platform designed to manage the complete lifecycle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CCDDEE"/>
                </a:solidFill>
                <a:latin typeface="Calibri"/>
              </a:rPr>
              <a:t>of project execution within one connected operational ecosystem.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50000"/>
            <a:ext cx="900000" cy="14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65000"/>
            <a:ext cx="3705866" cy="98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65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200" y="1517000"/>
            <a:ext cx="3605866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ACB"/>
                </a:solidFill>
                <a:latin typeface="Calibri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200" y="1770000"/>
            <a:ext cx="3605866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Structure complex projects with work breakdown and scheduling discipline.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3066" y="1365000"/>
            <a:ext cx="3705866" cy="98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43066" y="1365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3066" y="1517000"/>
            <a:ext cx="3605866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ACB"/>
                </a:solidFill>
                <a:latin typeface="Calibri"/>
              </a:rPr>
              <a:t>MONITOR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3066" y="1770000"/>
            <a:ext cx="3605866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Real-time visibility into field execution progress across all project sites.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8932" y="2390000"/>
            <a:ext cx="3705866" cy="98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932" y="2390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8932" y="2542000"/>
            <a:ext cx="3605866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ACB"/>
                </a:solidFill>
                <a:latin typeface="Calibri"/>
              </a:rPr>
              <a:t>OPTIMIZE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8932" y="2795000"/>
            <a:ext cx="3605866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Smart workforce allocation and productivity tracking against baselines.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390000"/>
            <a:ext cx="3705866" cy="98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390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200" y="2542000"/>
            <a:ext cx="3605866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ACB"/>
                </a:solidFill>
                <a:latin typeface="Calibri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200" y="2795000"/>
            <a:ext cx="3605866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End-to-end material flow and procurement lifecycle management.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43066" y="3415000"/>
            <a:ext cx="3705866" cy="98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43066" y="3415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3066" y="3567000"/>
            <a:ext cx="3605866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ACB"/>
                </a:solidFill>
                <a:latin typeface="Calibri"/>
              </a:rPr>
              <a:t>AUTOMATE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3066" y="3820000"/>
            <a:ext cx="3605866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Governance, approvals, and compliance workflows — fully automated.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28932" y="3415000"/>
            <a:ext cx="3705866" cy="98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932" y="3415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78932" y="3567000"/>
            <a:ext cx="3605866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ACB"/>
                </a:solidFill>
                <a:latin typeface="Calibri"/>
              </a:rPr>
              <a:t>DECIDE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8932" y="3820000"/>
            <a:ext cx="3605866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Centralized dashboards that convert field data into management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1000000" cy="3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900"/>
            <a:ext cx="11277600" cy="1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OPERATIONAL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0000"/>
            <a:ext cx="8119872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Three Integrated Operational Ecosystems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000"/>
            <a:ext cx="900000" cy="14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65000"/>
            <a:ext cx="3705866" cy="310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65000"/>
            <a:ext cx="3705866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7200" y="1087000"/>
            <a:ext cx="3625866" cy="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ORBIT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200" y="1213000"/>
            <a:ext cx="3605866" cy="2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ACB"/>
                </a:solidFill>
                <a:latin typeface="Calibri"/>
              </a:rPr>
              <a:t>HR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200" y="1468000"/>
            <a:ext cx="3605866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Manages workforce readiness, employee lifecycle, attendance, payroll, and compliance.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200" y="1883000"/>
            <a:ext cx="3605866" cy="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200" y="1923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Attendance &amp; Leave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200" y="2178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Payroll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200" y="2433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Employee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200" y="2688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Workforce Compliance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3066" y="1065000"/>
            <a:ext cx="3705866" cy="310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3066" y="1065000"/>
            <a:ext cx="3705866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3066" y="1087000"/>
            <a:ext cx="3625866" cy="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ORBIT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3066" y="1213000"/>
            <a:ext cx="3605866" cy="2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ACB"/>
                </a:solidFill>
                <a:latin typeface="Calibri"/>
              </a:rPr>
              <a:t>Productivity Ecosystem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3066" y="1468000"/>
            <a:ext cx="3605866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The operational backbone for project planning, scheduling, cost control, and procurement.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3066" y="1883000"/>
            <a:ext cx="3605866" cy="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3066" y="1923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WBS &amp; Schedule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3066" y="2178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Cost Planning &amp;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3066" y="2433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Procurement Lifecycle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3066" y="2688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Document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8932" y="1065000"/>
            <a:ext cx="3705866" cy="310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8932" y="1065000"/>
            <a:ext cx="3705866" cy="10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8932" y="1087000"/>
            <a:ext cx="3625866" cy="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ORBIT 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8932" y="1213000"/>
            <a:ext cx="3605866" cy="2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ACB"/>
                </a:solidFill>
                <a:latin typeface="Calibri"/>
              </a:rPr>
              <a:t>Activity Ecosystem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8932" y="1468000"/>
            <a:ext cx="3605866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Tracks field execution activities, daily progress reporting, and site-level operational workflows.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8932" y="1883000"/>
            <a:ext cx="3605866" cy="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78932" y="1923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Tower Schedule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8932" y="2178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Foundation Matrix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8932" y="2433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Daily Progress (DPR)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8932" y="2688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Site Execution Workflow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548000"/>
            <a:ext cx="11277600" cy="19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7200" y="6558000"/>
            <a:ext cx="1111760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Together these three ecosystems eliminate operational silos and create one integrated enterprise execution framework.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1000000" cy="3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900"/>
            <a:ext cx="11277600" cy="1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PROJECT PLANNING &amp; EXECUTION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000"/>
            <a:ext cx="8119872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From Structured Planning to Real-Time Field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000"/>
            <a:ext cx="7894319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CDDEE"/>
                </a:solidFill>
                <a:latin typeface="Calibri"/>
              </a:rPr>
              <a:t>The platform converts complex project requirements into executable workflows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CCDDEE"/>
                </a:solidFill>
                <a:latin typeface="Calibri"/>
              </a:rPr>
              <a:t>and monitors real-time progress from field to management — without manual intervention.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50000"/>
            <a:ext cx="900000" cy="14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65000"/>
            <a:ext cx="5558800" cy="306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65000"/>
            <a:ext cx="5558800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7200" y="1391000"/>
            <a:ext cx="5478800" cy="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PHASE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200" y="1525000"/>
            <a:ext cx="54588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ACB"/>
                </a:solidFill>
                <a:latin typeface="Calibri"/>
              </a:rPr>
              <a:t>Structured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200" y="1770000"/>
            <a:ext cx="54588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A disciplined framework to convert project requirements into manageable operational workflows with full visibility.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200" y="2190000"/>
            <a:ext cx="5458800" cy="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200" y="2235000"/>
            <a:ext cx="5458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Project creation and sub-project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200" y="2480000"/>
            <a:ext cx="5458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Work Breakdown Structure for operational clarity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200" y="2725000"/>
            <a:ext cx="5458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Milestone-driven execution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200" y="2970000"/>
            <a:ext cx="5458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Baseline creation and schedule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200" y="3215000"/>
            <a:ext cx="5458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Dependency management across workstreams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200" y="3460000"/>
            <a:ext cx="5458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Cost planning and resource allocation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6000" y="1365000"/>
            <a:ext cx="5558800" cy="306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6000" y="1365000"/>
            <a:ext cx="5558800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6000" y="1391000"/>
            <a:ext cx="5478800" cy="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PHASE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6000" y="1525000"/>
            <a:ext cx="54588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ACB"/>
                </a:solidFill>
                <a:latin typeface="Calibri"/>
              </a:rPr>
              <a:t>Real-Time Field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6000" y="1770000"/>
            <a:ext cx="54588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Continuous visibility into operational progress across distributed teams, locations, and project activities.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6000" y="2190000"/>
            <a:ext cx="5458800" cy="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6000" y="2235000"/>
            <a:ext cx="5458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Real-time task assignment and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6000" y="2480000"/>
            <a:ext cx="5458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Daily Progress Reporting (DPR) from field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6000" y="2725000"/>
            <a:ext cx="5458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Tower-level and foundation-level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6000" y="2970000"/>
            <a:ext cx="5458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Timesheet and workforce activity 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6000" y="3215000"/>
            <a:ext cx="5458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Site updates connected to central dashboards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6000" y="3460000"/>
            <a:ext cx="5458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Centralized execution coordination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58000"/>
            <a:ext cx="11277600" cy="20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7200" y="6466000"/>
            <a:ext cx="11117600" cy="1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Outcome:  Improved execution predictability, reduced reporting delays, and better resource utilization.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1000000" cy="3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900"/>
            <a:ext cx="11277600" cy="1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PROCUREMENT &amp; MATERIAL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000"/>
            <a:ext cx="8119872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End-to-End Supply Chain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000"/>
            <a:ext cx="7894319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CDDEE"/>
                </a:solidFill>
                <a:latin typeface="Calibri"/>
              </a:rPr>
              <a:t>Material planning and procurement management are critical dependencies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CCDDEE"/>
                </a:solidFill>
                <a:latin typeface="Calibri"/>
              </a:rPr>
              <a:t>for uninterrupted project execution and disciplined cost control.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50000"/>
            <a:ext cx="900000" cy="14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65000"/>
            <a:ext cx="3705866" cy="157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65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200" y="1527000"/>
            <a:ext cx="28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8ACB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200" y="1840000"/>
            <a:ext cx="3605866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BOQ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200" y="2085000"/>
            <a:ext cx="3605866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Bill of Quantity planning with integrated multi-level approval workflows for accurate quantity estimation.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3066" y="1365000"/>
            <a:ext cx="3705866" cy="157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43066" y="1365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3066" y="1527000"/>
            <a:ext cx="28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8ACB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066" y="1840000"/>
            <a:ext cx="3605866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Vendor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3066" y="2085000"/>
            <a:ext cx="3605866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Seamless vendor onboarding, labor and material mapping, and full contract lifecycle management.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932" y="1365000"/>
            <a:ext cx="3705866" cy="157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932" y="1365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8932" y="1527000"/>
            <a:ext cx="280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8ACB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8932" y="1840000"/>
            <a:ext cx="3605866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Material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8932" y="2085000"/>
            <a:ext cx="3605866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Real-time material issue tracking, consumption monitoring, and audit-ready stock reconciliation.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60000"/>
            <a:ext cx="11277600" cy="1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KEY BUSINESS RESULTS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55000"/>
            <a:ext cx="2789400" cy="1120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7200" y="3135000"/>
            <a:ext cx="2709400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Reduced Material Wastage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200" y="3400000"/>
            <a:ext cx="27094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CCDDEE"/>
                </a:solidFill>
                <a:latin typeface="Calibri"/>
              </a:rPr>
              <a:t>Precise tracking eliminates over-ordering and site-level losses.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86600" y="3055000"/>
            <a:ext cx="2789400" cy="1120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6600" y="3135000"/>
            <a:ext cx="2709400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Improved Vendor Coordination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6600" y="3400000"/>
            <a:ext cx="27094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CCDDEE"/>
                </a:solidFill>
                <a:latin typeface="Calibri"/>
              </a:rPr>
              <a:t>Centralized vendor lifecycle reduces procurement delays.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16000" y="3055000"/>
            <a:ext cx="2789400" cy="1120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56000" y="3135000"/>
            <a:ext cx="2709400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Stronger Cost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6000" y="3400000"/>
            <a:ext cx="27094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CCDDEE"/>
                </a:solidFill>
                <a:latin typeface="Calibri"/>
              </a:rPr>
              <a:t>Real-time consumption data enables proactive budget management.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45400" y="3055000"/>
            <a:ext cx="2789400" cy="1120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85400" y="3135000"/>
            <a:ext cx="2709400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Audit-Ready Reconciliation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85400" y="3400000"/>
            <a:ext cx="2709400" cy="7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CCDDEE"/>
                </a:solidFill>
                <a:latin typeface="Calibri"/>
              </a:rPr>
              <a:t>Every material movement is logged and reconciled for compliance.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1000000" cy="3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900"/>
            <a:ext cx="11277600" cy="1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WORKFORCE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0000"/>
            <a:ext cx="8119872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Smart Workforce Allocation and Productivity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000"/>
            <a:ext cx="900000" cy="14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65000"/>
            <a:ext cx="3705866" cy="306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65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200" y="1223000"/>
            <a:ext cx="360586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8ACB"/>
                </a:solidFill>
                <a:latin typeface="Calibri"/>
              </a:rPr>
              <a:t>TASK ASSIGNMENT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200" y="1510000"/>
            <a:ext cx="3605866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Dynamic resource allocation based on project milestones, skill sets, and site requirements.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200" y="1985000"/>
            <a:ext cx="3605866" cy="108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200" y="1997000"/>
            <a:ext cx="3565866" cy="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FOCUS:  Right Person. Right Task.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200" y="2130000"/>
            <a:ext cx="3605866" cy="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200" y="2175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Milestone-driven task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200" y="2435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Skill-based resource 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200" y="2695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Multi-site coordination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3066" y="1065000"/>
            <a:ext cx="3705866" cy="306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3066" y="1065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3066" y="1223000"/>
            <a:ext cx="360586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8ACB"/>
                </a:solidFill>
                <a:latin typeface="Calibri"/>
              </a:rPr>
              <a:t>PRODUCTIVITY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3066" y="1510000"/>
            <a:ext cx="3605866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Real-time monitoring of workforce output against daily execution goals and project baselines.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3066" y="1985000"/>
            <a:ext cx="3605866" cy="108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3066" y="1997000"/>
            <a:ext cx="3565866" cy="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FOCUS:  Output vs. Baseline.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3066" y="2130000"/>
            <a:ext cx="3605866" cy="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3066" y="2175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Daily goal vs. actual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3066" y="2435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Execution variance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3066" y="2695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Team-level productivity 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8932" y="1065000"/>
            <a:ext cx="3705866" cy="306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8932" y="1065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78932" y="1223000"/>
            <a:ext cx="360586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8ACB"/>
                </a:solidFill>
                <a:latin typeface="Calibri"/>
              </a:rPr>
              <a:t>ACCOUNTABILITY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8932" y="1510000"/>
            <a:ext cx="3605866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Structured performance monitoring and reporting for all site-level employees and contractors.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78932" y="1985000"/>
            <a:ext cx="3605866" cy="108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8932" y="1997000"/>
            <a:ext cx="3565866" cy="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FOCUS:  Performance Visibility.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8932" y="2130000"/>
            <a:ext cx="3605866" cy="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78932" y="2175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Employee performance records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8932" y="2435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Contractor accountability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8932" y="2695000"/>
            <a:ext cx="3605866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▸  Management-level reporting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58000"/>
            <a:ext cx="11277600" cy="20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7200" y="6466000"/>
            <a:ext cx="11117600" cy="1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Outcome:  Higher workforce productivity, better resource utilization, and improved employee accountability.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1000000" cy="3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900"/>
            <a:ext cx="11277600" cy="1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APPROVAL &amp; GOVERNANCE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000"/>
            <a:ext cx="8119872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Automated Approval Engine Across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000"/>
            <a:ext cx="7894319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CDDEE"/>
                </a:solidFill>
                <a:latin typeface="Calibri"/>
              </a:rPr>
              <a:t>Operational governance requires structured, automated approval workflows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CCDDEE"/>
                </a:solidFill>
                <a:latin typeface="Calibri"/>
              </a:rPr>
              <a:t>that reduce delays and enforce accountability across the organization.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50000"/>
            <a:ext cx="900000" cy="14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65000"/>
            <a:ext cx="5558800" cy="74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65000"/>
            <a:ext cx="72000" cy="74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9200" y="1445000"/>
            <a:ext cx="54088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BOQ Submissions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200" y="1690000"/>
            <a:ext cx="5408800" cy="3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Automated validation and multi-level approval for Bill of Quantities with full audit trails.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6000" y="1365000"/>
            <a:ext cx="5558800" cy="74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6000" y="1365000"/>
            <a:ext cx="72000" cy="74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8000" y="1445000"/>
            <a:ext cx="54088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Timesheet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8000" y="1690000"/>
            <a:ext cx="5408800" cy="3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Digital attendance validation linked directly to payroll and workforce cost tracking.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55000"/>
            <a:ext cx="5558800" cy="74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155000"/>
            <a:ext cx="72000" cy="74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200" y="2235000"/>
            <a:ext cx="54088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Field Progress (DPR)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200" y="2480000"/>
            <a:ext cx="5408800" cy="3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Real-time daily progress validation connected to project milestone tracking.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6000" y="2155000"/>
            <a:ext cx="5558800" cy="74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6000" y="2155000"/>
            <a:ext cx="72000" cy="74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8000" y="2235000"/>
            <a:ext cx="54088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Quality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8000" y="2480000"/>
            <a:ext cx="5408800" cy="3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Integrated quality assurance checklists and compliance audit documentation.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45000"/>
            <a:ext cx="5558800" cy="74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945000"/>
            <a:ext cx="72000" cy="74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200" y="3025000"/>
            <a:ext cx="54088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Procurement 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200" y="3270000"/>
            <a:ext cx="5408800" cy="3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Structured vendor selection and procurement approval with escalation workflows.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6000" y="2945000"/>
            <a:ext cx="5558800" cy="74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6000" y="2945000"/>
            <a:ext cx="72000" cy="74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8000" y="3025000"/>
            <a:ext cx="540880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E8ACB"/>
                </a:solidFill>
                <a:latin typeface="Calibri"/>
              </a:rPr>
              <a:t>Resubmission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8000" y="3270000"/>
            <a:ext cx="5408800" cy="3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Auto-routing of rejected submissions with contextual feedback for resubmission.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810000"/>
            <a:ext cx="11277600" cy="460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7200" y="3920000"/>
            <a:ext cx="2789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✓  Enforced Accountability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26600" y="3920000"/>
            <a:ext cx="2789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✓  Audit-Ready Records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6000" y="3920000"/>
            <a:ext cx="2789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✓  Escalation Engines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85400" y="3920000"/>
            <a:ext cx="27894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✓  Zero Reporting Gaps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1000000" cy="3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900"/>
            <a:ext cx="11277600" cy="1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MANAGEMENT DASHBOARD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000"/>
            <a:ext cx="8119872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Real-Time Management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000"/>
            <a:ext cx="7894319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CDDEE"/>
                </a:solidFill>
                <a:latin typeface="Calibri"/>
              </a:rPr>
              <a:t>Senior management requires centralized intelligence to make informed decisions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CCDDEE"/>
                </a:solidFill>
                <a:latin typeface="Calibri"/>
              </a:rPr>
              <a:t>on project performance, operational health, and resource utilization.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50000"/>
            <a:ext cx="900000" cy="14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65000"/>
            <a:ext cx="3705866" cy="110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65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200" y="1527000"/>
            <a:ext cx="3605866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Unified EPC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200" y="1805000"/>
            <a:ext cx="3605866" cy="6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Centralized view of all project activities, health metrics, and execution KPIs.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3066" y="1365000"/>
            <a:ext cx="3705866" cy="110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43066" y="1365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3066" y="1527000"/>
            <a:ext cx="3605866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Action 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3066" y="1805000"/>
            <a:ext cx="3605866" cy="6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Targeted management interventions triggered by live data anomalies and alerts.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8932" y="1365000"/>
            <a:ext cx="3705866" cy="110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932" y="1365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8932" y="1527000"/>
            <a:ext cx="3605866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Trend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8932" y="1805000"/>
            <a:ext cx="3605866" cy="6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Operational trend analytics enabling strategic long-term planning and forecasting.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20000"/>
            <a:ext cx="3705866" cy="110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520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200" y="2682000"/>
            <a:ext cx="3605866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Resource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200" y="2960000"/>
            <a:ext cx="3605866" cy="6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Team-level and individual performance tracking against planned baselines.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43066" y="2520000"/>
            <a:ext cx="3705866" cy="110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43066" y="2520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3066" y="2682000"/>
            <a:ext cx="3605866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Progress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3066" y="2960000"/>
            <a:ext cx="3605866" cy="6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Planned vs. actual comparison across milestones, cost, and workforce utilization.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28932" y="2520000"/>
            <a:ext cx="3705866" cy="110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932" y="2520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78932" y="2682000"/>
            <a:ext cx="3605866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Visual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8932" y="2960000"/>
            <a:ext cx="3605866" cy="6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Charts, heatmaps, and dashboards for rapid operational decision making.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538000"/>
            <a:ext cx="11277600" cy="210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7200" y="6548000"/>
            <a:ext cx="111176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DATA-DRIVEN DECISIONS  |  INSIGHTS OVER REPORTS  |  REAL-TIME MANAGEMENT VISIBILITY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1000000" cy="3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900"/>
            <a:ext cx="11277600" cy="1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COMPETITIVE EDGE &amp;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000"/>
            <a:ext cx="8119872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One Platform. One Ecosystem. Complete Operational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000"/>
            <a:ext cx="7894319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CCDDEE"/>
                </a:solidFill>
                <a:latin typeface="Calibri"/>
              </a:rPr>
              <a:t>Unlike traditional approaches using multiple disconnected systems, this platform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CCDDEE"/>
                </a:solidFill>
                <a:latin typeface="Calibri"/>
              </a:rPr>
              <a:t>consolidates all critical enterprise functions into one intelligent digital ecosystem.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50000"/>
            <a:ext cx="900000" cy="14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0000"/>
            <a:ext cx="451104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CONSOLIDATED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65000"/>
            <a:ext cx="4511040" cy="192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7200" y="1425000"/>
            <a:ext cx="4411040" cy="25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7200" y="1477000"/>
            <a:ext cx="43710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Project Management Systems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200" y="1735000"/>
            <a:ext cx="4411040" cy="25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7200" y="1787000"/>
            <a:ext cx="43710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Enterprise ERP Platforms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200" y="2045000"/>
            <a:ext cx="4411040" cy="25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7200" y="2097000"/>
            <a:ext cx="43710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Workforce Management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200" y="2355000"/>
            <a:ext cx="4411040" cy="25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7200" y="2407000"/>
            <a:ext cx="43710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Procurement &amp; Vendor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200" y="2665000"/>
            <a:ext cx="4411040" cy="25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7200" y="2717000"/>
            <a:ext cx="43710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Field Execution Monitoring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200" y="2975000"/>
            <a:ext cx="4411040" cy="25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7200" y="3027000"/>
            <a:ext cx="437104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Governance &amp; Approval Engines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8240" y="1180000"/>
            <a:ext cx="656656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INNOVATION HIGHLIGHTS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8240" y="1365000"/>
            <a:ext cx="6566560" cy="64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68240" y="1365000"/>
            <a:ext cx="6566560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8240" y="1520000"/>
            <a:ext cx="646656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Three-Orbit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8240" y="1767000"/>
            <a:ext cx="646656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Unique connection between HR, Productivity, and Activity ecosystems creates one unified framework.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68240" y="2050000"/>
            <a:ext cx="6566560" cy="64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68240" y="2050000"/>
            <a:ext cx="6566560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8240" y="2205000"/>
            <a:ext cx="646656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Real-Time Data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8240" y="2452000"/>
            <a:ext cx="646656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Field-to-management data flow is fully automated with no manual intervention required.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68240" y="2735000"/>
            <a:ext cx="6566560" cy="64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68240" y="2735000"/>
            <a:ext cx="6566560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8240" y="2890000"/>
            <a:ext cx="646656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Scalable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8240" y="3137000"/>
            <a:ext cx="6466560" cy="2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CCDDEE"/>
                </a:solidFill>
                <a:latin typeface="Calibri"/>
              </a:rPr>
              <a:t>Designed for multi-site, large-scale EPC operations with enterprise-grade scalability.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1000000" cy="3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900"/>
            <a:ext cx="11277600" cy="1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INDUSTRIES &amp; BUSINESS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0000"/>
            <a:ext cx="8119872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Who We Serve and What We Deliver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000"/>
            <a:ext cx="900000" cy="14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5000"/>
            <a:ext cx="4736592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INDUSTRIES SERVED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0000"/>
            <a:ext cx="4736592" cy="26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30000"/>
            <a:ext cx="72000" cy="26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9200" y="1292000"/>
            <a:ext cx="4616592" cy="1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EPC Companies &amp; Contractors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45000"/>
            <a:ext cx="4736592" cy="26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45000"/>
            <a:ext cx="72000" cy="26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9200" y="1607000"/>
            <a:ext cx="4616592" cy="1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Power Transmission Projects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60000"/>
            <a:ext cx="4736592" cy="26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60000"/>
            <a:ext cx="72000" cy="26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200" y="1922000"/>
            <a:ext cx="4616592" cy="1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Substation Construction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75000"/>
            <a:ext cx="4736592" cy="26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175000"/>
            <a:ext cx="72000" cy="26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200" y="2237000"/>
            <a:ext cx="4616592" cy="1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Renewable Energy Projects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90000"/>
            <a:ext cx="4736592" cy="26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490000"/>
            <a:ext cx="72000" cy="26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200" y="2552000"/>
            <a:ext cx="4616592" cy="1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Infrastructure Development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05000"/>
            <a:ext cx="4736592" cy="265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805000"/>
            <a:ext cx="72000" cy="265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9200" y="2867000"/>
            <a:ext cx="4616592" cy="1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Utility Companies &amp; Grid Operators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3792" y="1065000"/>
            <a:ext cx="6341008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MEASURABLE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3792" y="1230000"/>
            <a:ext cx="6341008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8ACB"/>
                </a:solidFill>
                <a:latin typeface="Calibri"/>
              </a:rPr>
              <a:t>OPERATIONAL OUTCOMES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3792" y="1373000"/>
            <a:ext cx="6341008" cy="137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53792" y="1420000"/>
            <a:ext cx="6261008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▸  Faster project execution cycles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3792" y="1685000"/>
            <a:ext cx="6261008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▸  Higher workforce productivity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3792" y="1950000"/>
            <a:ext cx="6261008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▸  Reduced material wastage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3792" y="2215000"/>
            <a:ext cx="6261008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▸  Stronger governance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3792" y="2480000"/>
            <a:ext cx="6261008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▸  Lower manual reporting dependency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3792" y="2793000"/>
            <a:ext cx="6341008" cy="1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E8ACB"/>
                </a:solidFill>
                <a:latin typeface="Calibri"/>
              </a:rPr>
              <a:t>STRATEGIC OUTCOMES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3792" y="2935000"/>
            <a:ext cx="6341008" cy="1105000"/>
          </a:xfrm>
          <a:prstGeom prst="rect">
            <a:avLst/>
          </a:prstGeom>
          <a:solidFill>
            <a:srgbClr val="0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53792" y="2983000"/>
            <a:ext cx="6261008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▸  Enterprise-wide digital transformation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3792" y="3248000"/>
            <a:ext cx="6261008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▸  Scalable platform for organizational growth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53792" y="3513000"/>
            <a:ext cx="6261008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▸  Data-driven management decision making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3792" y="3778000"/>
            <a:ext cx="6261008" cy="24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▸  Reduced project delivery risk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2900"/>
            <a:ext cx="1000000" cy="32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900"/>
            <a:ext cx="11277600" cy="1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8ACB"/>
                </a:solidFill>
                <a:latin typeface="Calibri"/>
              </a:rPr>
              <a:t>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00000"/>
            <a:ext cx="11277600" cy="14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80000"/>
            <a:ext cx="112776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Building the Digital Operating System for Enterprise Project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10000"/>
            <a:ext cx="112776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CCDDEE"/>
                </a:solidFill>
                <a:latin typeface="Calibri"/>
              </a:rPr>
              <a:t>Our vision is to transform how organizations manage complex, large-scale project execution —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CCDDEE"/>
                </a:solidFill>
                <a:latin typeface="Calibri"/>
              </a:rPr>
              <a:t>replacing fragmented systems and manual processes with one intelligent, connected enterprise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6600" y="1790000"/>
            <a:ext cx="5638800" cy="14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85000"/>
            <a:ext cx="3705866" cy="95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85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7200" y="2147000"/>
            <a:ext cx="3625866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8ACB"/>
                </a:solidFill>
                <a:latin typeface="Calibri"/>
              </a:rPr>
              <a:t>ONE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200" y="2430000"/>
            <a:ext cx="3625866" cy="4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Single unified environment for all project operations.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3066" y="1985000"/>
            <a:ext cx="3705866" cy="95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43066" y="1985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3066" y="2147000"/>
            <a:ext cx="3625866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8ACB"/>
                </a:solidFill>
                <a:latin typeface="Calibri"/>
              </a:rPr>
              <a:t>ONE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3066" y="2430000"/>
            <a:ext cx="3625866" cy="4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HR, Productivity, and Activity — fully integrated.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8932" y="1985000"/>
            <a:ext cx="3705866" cy="950000"/>
          </a:xfrm>
          <a:prstGeom prst="rect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932" y="1985000"/>
            <a:ext cx="3705866" cy="108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8932" y="2147000"/>
            <a:ext cx="3625866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8ACB"/>
                </a:solidFill>
                <a:latin typeface="Calibri"/>
              </a:rPr>
              <a:t>COMPLETE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8932" y="2430000"/>
            <a:ext cx="3625866" cy="4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End-to-end visibility and governance across execution.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6600" y="3068000"/>
            <a:ext cx="5638800" cy="14000"/>
          </a:xfrm>
          <a:prstGeom prst="rect">
            <a:avLst/>
          </a:prstGeom>
          <a:solidFill>
            <a:srgbClr val="1E8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75000"/>
            <a:ext cx="112776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8ACB"/>
                </a:solidFill>
                <a:latin typeface="Calibri"/>
              </a:rPr>
              <a:t>TRANSFORMING THE FUTURE OF EPC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11078</TotalTime>
  <Words>63</Words>
  <Application>Microsoft Office PowerPoint</Application>
  <PresentationFormat>Widescreen</PresentationFormat>
  <Paragraphs>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Saurabh Varshney</dc:creator>
  <cp:lastModifiedBy>Kuberji Dixit</cp:lastModifiedBy>
  <cp:revision>332</cp:revision>
  <dcterms:created xsi:type="dcterms:W3CDTF">2024-05-01T05:46:46Z</dcterms:created>
  <dcterms:modified xsi:type="dcterms:W3CDTF">2024-08-05T09:27:00Z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1550709108</vt:i4>
  </property>
  <property fmtid="{D5CDD505-2E9C-101B-9397-08002B2CF9AE}" pid="3" name="_NewReviewCycle">
    <vt:lpwstr/>
  </property>
  <property fmtid="{D5CDD505-2E9C-101B-9397-08002B2CF9AE}" pid="4" name="_EmailSubject">
    <vt:lpwstr>CSPDCL Demo Prepration</vt:lpwstr>
  </property>
  <property fmtid="{D5CDD505-2E9C-101B-9397-08002B2CF9AE}" pid="5" name="_AuthorEmail">
    <vt:lpwstr>Saurabh.V@inventia.in</vt:lpwstr>
  </property>
  <property fmtid="{D5CDD505-2E9C-101B-9397-08002B2CF9AE}" pid="6" name="_AuthorEmailDisplayName">
    <vt:lpwstr>Saurabh Varshney</vt:lpwstr>
  </property>
</Properties>
</file>