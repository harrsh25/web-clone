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274320"/>
            <a:ext cx="2011680" cy="2011680"/>
          </a:xfrm>
          <a:prstGeom prst="ellipse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4320" y="5303520"/>
            <a:ext cx="1371600" cy="1371600"/>
          </a:xfrm>
          <a:prstGeom prst="ellipse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ENTERPRISE WORKFORCE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</a:rPr>
              <a:t>ORBIT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411480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B0BEC5"/>
                </a:solidFill>
              </a:rPr>
              <a:t>One Platform. Three Orbits. Total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A cloud-based platform that unifies project execution, workforce tracking,
cost management, and infrastructure operations for enterprise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03520"/>
            <a:ext cx="3200400" cy="5943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766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🏗  Productivity Orbit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5303520"/>
            <a:ext cx="3200400" cy="5943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53766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📡  Activity Orbit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5303520"/>
            <a:ext cx="320040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53766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👥  HR Orbit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Enterprise Teams Struggle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4572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21031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Fragmented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Teams juggle 5–10 disconnected tools for projects,
timesheets, approvals, and cost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828800"/>
            <a:ext cx="3474720" cy="21031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Zero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No single view of project health, team progress,
or real-time execution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28800"/>
            <a:ext cx="3474720" cy="21031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Cost Overruns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No structured BOQ, material tracking, or vendor
management leads to uncontrolled spending.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3474720" cy="21031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25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Delayed 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Manual approval chains cause bottlenecks,
delaying field operations and reporting.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4160520"/>
            <a:ext cx="3474720" cy="21031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4325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Infrastructure Blind Spots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EPC &amp; tower projects lack specialized tools for
schedule uploads, foundation tracking, and visual charts.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160520"/>
            <a:ext cx="3474720" cy="21031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325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Lost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Project documents scattered across emails,
drives, and local folders — nothing is centralized.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Introducing ORBIT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457200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ORBIT is a unified, cloud-based enterprise platform that replaces fragmented toolsets with a single
intelligent workspace — built specifically for construction, EPC, telecom, and infrastructure industries.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743200" cy="25603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64008" cy="25603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ONE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Everything from project creation to invoicing lives in a single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77440"/>
            <a:ext cx="2743200" cy="25603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377440"/>
            <a:ext cx="64008" cy="25603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Live tracking of tasks, progress, approvals, and costs — no lag.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377440"/>
            <a:ext cx="2743200" cy="25603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377440"/>
            <a:ext cx="64008" cy="25603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CONFIGURABLE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Customizable workflows, columns, approval chains, and dashboards.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377440"/>
            <a:ext cx="2743200" cy="25603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377440"/>
            <a:ext cx="64008" cy="25603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514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STRUCTURED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566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Three-level WBS, dependency management, baselines, and critical path.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2180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"From planning to execution to cost control — ORBIT gives every stakeholder exactly what they need."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From Sign-In to Full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457200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657600" cy="2148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013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647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</a:rPr>
              <a:t>Login &amp; Orbit
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Users sign in and choose their workspace — Productivity, Activity, or HR Orbit.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8B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3657600" cy="2148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1783080"/>
            <a:ext cx="475488" cy="47548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8013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647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Project &amp;
WBS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Create projects, define Work Breakdown Structure (Activities → Tasks → Sub-Tasks), assign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3657600" cy="2148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1783080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8013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7647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Execute &amp;
Track Daily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2316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Teams log progress, submit timesheets, update task status. Managers see it all in real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3657600" cy="2148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4160520"/>
            <a:ext cx="475488" cy="475488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17880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422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</a:rPr>
              <a:t>Approve &amp;
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0060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Configurable approval chains (QC + Multi-level) ensure quality before work is accepted.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5487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B2FBE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977639"/>
            <a:ext cx="3657600" cy="2148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4160520"/>
            <a:ext cx="475488" cy="475488"/>
          </a:xfrm>
          <a:prstGeom prst="ellipse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417880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41422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</a:rPr>
              <a:t>Cost &amp;
Vendor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0060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BOQ, material lifecycle, and vendor mapping keep project financials fully visible and controlled.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75487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8B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977639"/>
            <a:ext cx="3657600" cy="2148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58200" y="4160520"/>
            <a:ext cx="475488" cy="47548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417880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1422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Analyse &amp;
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80060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Dashboards, Gantt baselines, critical path, and AI-powered analytics drive smarter decisions.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Orbits. One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0" cy="457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ORBIT is structured around three specialized workspaces, each designed for a distinct operational role.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657600" cy="13716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84831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PRODUCTIVITY
ORBIT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249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1B2A"/>
                </a:solidFill>
              </a:rPr>
              <a:t>For project managers, planners &amp; field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3657600" cy="29260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64008" cy="2926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Project Center &amp; WBS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Assignments &amp; Timesheets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Goals &amp;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Cost Center &amp; BOQ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Approvals &amp; Dashboards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011680"/>
            <a:ext cx="3657600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0574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084831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ACTIVITY
ORBIT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7249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1B2A"/>
                </a:solidFill>
              </a:rPr>
              <a:t>For EPC, telecom &amp; infrastructure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429000"/>
            <a:ext cx="3657600" cy="29260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429000"/>
            <a:ext cx="64008" cy="2926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Tower Schedule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Foundation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720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L2 Gantt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749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Tower Progress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778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Visual Chart &amp; Reporting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011680"/>
            <a:ext cx="365760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084831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HR
ORBIT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7249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1B2A"/>
                </a:solidFill>
              </a:rPr>
              <a:t>For HR teams &amp; people 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429000"/>
            <a:ext cx="3657600" cy="29260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429000"/>
            <a:ext cx="64008" cy="2926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566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Employee 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069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Onboarding Workflows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720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Leave &amp; Attendance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0749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Performance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5778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◆  Payroll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PRODUCTIVITY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Complete Project Execution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Project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Create, manage &amp; archive projects with templates, project groups, and customizable column 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82880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3774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Work Breakdown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7889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3-level hierarchy (Activity→Task→Sub-Task). List, Kanban Board, Gantt &amp; Overview 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3774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Assignments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889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Consolidated workspace for user-assigned work. Progress tracking, daily reports, time logging.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82880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3774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Timesheets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889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Log work hours, save drafts, submit for approval. Multi-level approval with status tracking.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82880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37744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Approvals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7889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Configurable modes: QC Only, QC+Approval, Approval Only. Single or multi-level chains.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89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Goals &amp; Milestones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006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High-level objectives with 3 milestone types: Activity-based, Number-based, True/False.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384048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79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79" y="4389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Cost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79" y="48006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BOQ with auto-calc, Material Lifecycle Tracking (Planning→Procurement→Consumption).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84048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4389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Document 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8006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Centralized docs from planning, assignments &amp; uploads. Official vs. Personal categories.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384048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389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Vendor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8006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Register vendors, map to labor/material types. Legal, banking &amp; compliance tracking.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4080" y="3840480"/>
            <a:ext cx="22402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438912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Dashboards &amp;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48006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EPC Dashboard, AI-powered Analytics, Visual Charts. My View &amp; Project View modes.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FF"/>
                </a:solidFill>
              </a:rPr>
              <a:t>WORK BREAKDOWN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Core of Project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004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🏗 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</a:rPr>
              <a:t>Top-level deliverable / 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43200"/>
            <a:ext cx="2743200" cy="5943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272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</a:rPr>
              <a:t>Work package under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611880"/>
            <a:ext cx="228600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36850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   SUB-TASK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3995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</a:rPr>
              <a:t>Granular execution 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48716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EC5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5584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EC5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691640"/>
            <a:ext cx="3337560" cy="22402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691640"/>
            <a:ext cx="64008" cy="22402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874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8928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</a:rPr>
              <a:t>List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468880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Hierarchical table with inline editing, search, bulk import/export, and 11 customizable columns.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691640"/>
            <a:ext cx="3337560" cy="22402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691640"/>
            <a:ext cx="64008" cy="22402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74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8928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Board View
(Kanban)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468880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Cards grouped by Status / Priority / Due Date / Assignee. Overdue, Assigned, Unassigned filters.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160520"/>
            <a:ext cx="3337560" cy="22402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4160520"/>
            <a:ext cx="64008" cy="2240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36168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Gantt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937760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Timeline bars with baseline overlay, Today indicator, critical path, and Weekly/Monthly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4160520"/>
            <a:ext cx="3337560" cy="22402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4160520"/>
            <a:ext cx="64008" cy="22402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36168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</a:rPr>
              <a:t>Dependency
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937760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SS / FF / FS / SF relationships. Circular dependency prevention. Blocking &amp; blocked counts.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343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📸 Baseline Snapshots (up to 4-way comparison)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188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🔴 Critical Path Analysis (ES/EF/LS/LF/Float)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2943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📊 WBS Overview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ACTIVITY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Built for Tower &amp; Infrastructure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The Activity Orbit is purpose-built for EPC, telecom, and transmission-line construction companies
managing large-scale tower and infrastructure projects at field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3657600" cy="20116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64008" cy="2011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963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A7"/>
                </a:solidFill>
              </a:rPr>
              <a:t>Tower Schedule
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Upload tower data: AP No., span distances, weight spans (cold/hot), wind span, coordinates, crossing type. Full approval workflow with status tracking.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331720"/>
            <a:ext cx="3657600" cy="20116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31720"/>
            <a:ext cx="64008" cy="2011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963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A7"/>
                </a:solidFill>
              </a:rPr>
              <a:t>Foundation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Manage foundation and material specifications per tower: Tower Type, Leg Extension, Soil Type, Excavation volume, Steel, Stub, Nut Bolt, Height.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31720"/>
            <a:ext cx="3657600" cy="20116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331720"/>
            <a:ext cx="64008" cy="2011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963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A7"/>
                </a:solidFill>
              </a:rPr>
              <a:t>L2 Schedule
(Gantt-based)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08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Supply and Construction phase scheduling with Gantt visualization. Status filters: Planned / In Progress / Completed / Delayed.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3657600" cy="20116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64008" cy="2011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451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A7"/>
                </a:solidFill>
              </a:rPr>
              <a:t>Tower Progress
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57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Tower-wise activity tracking across Foundation, Erection, Welding, Conductor Stringing, OPGW. Summary: Total Towers, Completed, Last Updated.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80560"/>
            <a:ext cx="3657600" cy="20116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480560"/>
            <a:ext cx="64008" cy="2011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617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64515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9A7"/>
                </a:solidFill>
              </a:rPr>
              <a:t>Visual 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257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Interactive tower map with activity-wise progress breakdown. Color-coded status: ROW, Revetment, Foundation, Erection, Insulation, Stringing, OPGW, Earthing.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COST CENTER &amp; VENDOR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Full Financial Visibility &amp;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4008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💰  Bill of Quantities (BOQ)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▸  Contract Amount = QTY × Rate + GST  (auto-calculated)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▸  Variance = Contract Amount − Tower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809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▸  Supply &amp; Construction cost items tracked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74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▸  Full BOQ Approval workflow (Reviewer → Approve / Reject)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64008" cy="2286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</a:rPr>
              <a:t>🔄  Material Lifecycle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📐 BOQ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194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Planned quantities from BOQ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87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📦 Issue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587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Material released from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80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⚙  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9809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Actual usage from Assignments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741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✅ Final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3741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Auto-calculated variance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5303520" cy="24688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64008" cy="2468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🏢  Vendor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451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Vendor Type: Strategic / Operational / Service Partner / Material Supplier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023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Full registration: Basic, Legal (GST/PAN/MSME), Contact, Banking (IFSC)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59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Labor Type Mapping — link vendor to labor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167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Material Mapping — link vendor to approved materials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023360"/>
            <a:ext cx="5669280" cy="24688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4023360"/>
            <a:ext cx="64008" cy="24688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BE"/>
                </a:solidFill>
              </a:rPr>
              <a:t>📁  Document Repository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645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Centralizes docs from Planning, Assignments &amp; direct uploads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1023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Official (team-visible) vs. Personal (private)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5595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Filter by type: Drawing / Checklist / Invoice / Report / Photo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016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◆  List View &amp; By-Type View  |  Preview &amp; Download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WHY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Makes Us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4572000" cy="457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0574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64008" cy="2057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38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</a:rPr>
              <a:t>Industry-Specific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Not a generic PM tool. Built with EPC, telecom &amp; construction workflows at its 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657600" cy="20574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64008" cy="2057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938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Multi-View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Every module supports List, Kanban, Gantt, and Card views — teams work the way they want.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657600" cy="20574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64008" cy="2057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38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End-to-End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14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From project plan to material consumption to invoice — every data point is connected.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3657600" cy="20574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64008" cy="2057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24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</a:rPr>
              <a:t>Structured Approvals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Configurable QC + multi-level approval chains with rework loops and audit trails.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023360"/>
            <a:ext cx="3657600" cy="20574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023360"/>
            <a:ext cx="64008" cy="2057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224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FF"/>
                </a:solidFill>
              </a:rPr>
              <a:t>Plan vs. 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Baseline snapshots and critical path analysis give instant plan-vs-reality comparison.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023360"/>
            <a:ext cx="3657600" cy="20574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023360"/>
            <a:ext cx="64008" cy="2057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224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AI-Powered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800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Analytics dashboard with AI widgets surfaces risks, bottlenecks, and opportunities.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00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3657600" cy="3657600"/>
          </a:xfrm>
          <a:prstGeom prst="ellipse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</a:rPr>
              <a:t>ORBIT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94360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0BEC5"/>
                </a:solidFill>
              </a:rPr>
              <a:t>One Platform. Three Orbits. Total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611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</a:rPr>
              <a:t>Empowering enterprise teams to plan smarter, execute faster,
and deliver projects with complete visibility and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4663440"/>
            <a:ext cx="2651760" cy="5943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47365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🏗  Productivity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663440"/>
            <a:ext cx="2651760" cy="5943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47365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📡  Activity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663440"/>
            <a:ext cx="26517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7365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👥 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9A7"/>
                </a:solidFill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